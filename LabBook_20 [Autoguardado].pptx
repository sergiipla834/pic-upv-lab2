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6"/>
  </p:notesMasterIdLst>
  <p:handoutMasterIdLst>
    <p:handoutMasterId r:id="rId27"/>
  </p:handoutMasterIdLst>
  <p:sldIdLst>
    <p:sldId id="256" r:id="rId2"/>
    <p:sldId id="289" r:id="rId3"/>
    <p:sldId id="295" r:id="rId4"/>
    <p:sldId id="302" r:id="rId5"/>
    <p:sldId id="303" r:id="rId6"/>
    <p:sldId id="306" r:id="rId7"/>
    <p:sldId id="307" r:id="rId8"/>
    <p:sldId id="308" r:id="rId9"/>
    <p:sldId id="309" r:id="rId10"/>
    <p:sldId id="310" r:id="rId11"/>
    <p:sldId id="311" r:id="rId12"/>
    <p:sldId id="291" r:id="rId13"/>
    <p:sldId id="296" r:id="rId14"/>
    <p:sldId id="294" r:id="rId15"/>
    <p:sldId id="299" r:id="rId16"/>
    <p:sldId id="300" r:id="rId17"/>
    <p:sldId id="312" r:id="rId18"/>
    <p:sldId id="301" r:id="rId19"/>
    <p:sldId id="313" r:id="rId20"/>
    <p:sldId id="297" r:id="rId21"/>
    <p:sldId id="290" r:id="rId22"/>
    <p:sldId id="292" r:id="rId23"/>
    <p:sldId id="298"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72" autoAdjust="0"/>
    <p:restoredTop sz="95033" autoAdjust="0"/>
  </p:normalViewPr>
  <p:slideViewPr>
    <p:cSldViewPr>
      <p:cViewPr varScale="1">
        <p:scale>
          <a:sx n="127" d="100"/>
          <a:sy n="127" d="100"/>
        </p:scale>
        <p:origin x="216" y="184"/>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11/3/26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11/3/26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Sergi Pla Torró</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7465852" y="1418371"/>
            <a:ext cx="4214357" cy="3816429"/>
          </a:xfrm>
          <a:prstGeom prst="rect">
            <a:avLst/>
          </a:prstGeom>
          <a:solidFill>
            <a:schemeClr val="bg1">
              <a:lumMod val="95000"/>
            </a:schemeClr>
          </a:solidFill>
          <a:ln w="28575">
            <a:solidFill>
              <a:srgbClr val="E0700D"/>
            </a:solidFill>
          </a:ln>
        </p:spPr>
        <p:txBody>
          <a:bodyPr wrap="square" rtlCol="0">
            <a:spAutoFit/>
          </a:bodyPr>
          <a:lstStyle/>
          <a:p>
            <a:pPr algn="just"/>
            <a:r>
              <a:rPr lang="en-US" sz="1400" b="1"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400" b="1" dirty="0">
              <a:latin typeface="Arial" panose="020B0604020202020204" pitchFamily="34" charset="0"/>
              <a:cs typeface="Arial" panose="020B0604020202020204" pitchFamily="34" charset="0"/>
            </a:endParaRPr>
          </a:p>
          <a:p>
            <a:pPr algn="just"/>
            <a:r>
              <a:rPr lang="es-ES" altLang="es-ES" sz="1400" dirty="0">
                <a:solidFill>
                  <a:srgbClr val="000000"/>
                </a:solidFill>
              </a:rPr>
              <a:t>Cuando L=Lπ​, el coeficiente K=1 y toda la potencia se ha transferido a la segunda guía. En cambio, cuando L=Lπ/2, se obtiene K=0.5, lo que significa que la potencia se divide por igual entre las dos salidas (</a:t>
            </a:r>
            <a:r>
              <a:rPr lang="es-ES" altLang="es-ES" sz="1400" dirty="0" err="1">
                <a:solidFill>
                  <a:srgbClr val="000000"/>
                </a:solidFill>
              </a:rPr>
              <a:t>splitter</a:t>
            </a:r>
            <a:r>
              <a:rPr lang="es-ES" altLang="es-ES" sz="1400" dirty="0">
                <a:solidFill>
                  <a:srgbClr val="000000"/>
                </a:solidFill>
              </a:rPr>
              <a:t> 50/50). Por tanto, el análisis permite identificar dos distancias clave del dispositivo: Lπ​, necesaria para la transferencia completa de energía de una guía a otra, y Lπ/2, necesaria para dividir la potencia en mitades iguales.</a:t>
            </a:r>
            <a:endParaRPr lang="es-ES" altLang="es-ES" sz="1400" dirty="0"/>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2"/>
            <a:ext cx="6629559" cy="48300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4" name="Imagen 3">
            <a:extLst>
              <a:ext uri="{FF2B5EF4-FFF2-40B4-BE49-F238E27FC236}">
                <a16:creationId xmlns:a16="http://schemas.microsoft.com/office/drawing/2014/main" id="{1C7EBB1C-0AB1-32C8-5ADA-CB9765323D00}"/>
              </a:ext>
            </a:extLst>
          </p:cNvPr>
          <p:cNvPicPr>
            <a:picLocks noChangeAspect="1"/>
          </p:cNvPicPr>
          <p:nvPr/>
        </p:nvPicPr>
        <p:blipFill>
          <a:blip r:embed="rId6"/>
          <a:stretch>
            <a:fillRect/>
          </a:stretch>
        </p:blipFill>
        <p:spPr>
          <a:xfrm>
            <a:off x="695446" y="2658790"/>
            <a:ext cx="6372974" cy="3540541"/>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Width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C36BF-93DC-E555-77B3-3FD3FA9F5C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8E379A-BD3C-8DEE-0F8B-2F5ACBBB4D85}"/>
              </a:ext>
            </a:extLst>
          </p:cNvPr>
          <p:cNvSpPr>
            <a:spLocks noGrp="1"/>
          </p:cNvSpPr>
          <p:nvPr>
            <p:ph type="title"/>
          </p:nvPr>
        </p:nvSpPr>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2DA497EF-74E7-AC65-D9CF-0D2D3E106E6F}"/>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854AED91-5833-3B75-A1BD-B045C3F5DB9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84EA614-6D4E-A405-BDC6-AF10852697EA}"/>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9" name="CuadroTexto 8">
            <a:extLst>
              <a:ext uri="{FF2B5EF4-FFF2-40B4-BE49-F238E27FC236}">
                <a16:creationId xmlns:a16="http://schemas.microsoft.com/office/drawing/2014/main" id="{5FB1641D-5CCD-FF78-2358-CEA60C757F99}"/>
              </a:ext>
            </a:extLst>
          </p:cNvPr>
          <p:cNvSpPr txBox="1"/>
          <p:nvPr/>
        </p:nvSpPr>
        <p:spPr>
          <a:xfrm>
            <a:off x="609600" y="721749"/>
            <a:ext cx="5638800"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endParaRPr lang="es-ES" sz="1200" b="1" dirty="0">
              <a:latin typeface="Menlo" panose="020B0609030804020204" pitchFamily="49" charset="0"/>
            </a:endParaRP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47.0138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endParaRPr lang="es-ES" sz="1200" dirty="0">
              <a:latin typeface="Menlo" panose="020B0609030804020204" pitchFamily="49" charset="0"/>
            </a:endParaRP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0.9687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0.9582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0.1855</a:t>
            </a:r>
          </a:p>
          <a:p>
            <a:r>
              <a:rPr lang="es-ES" sz="1200" b="0" i="0" dirty="0">
                <a:effectLst/>
                <a:latin typeface="Menlo" panose="020B0609030804020204" pitchFamily="49" charset="0"/>
              </a:rPr>
              <a:t>------------------------ </a:t>
            </a:r>
            <a:endParaRPr lang="es-ES" sz="1200" dirty="0">
              <a:latin typeface="Menlo" panose="020B0609030804020204" pitchFamily="49" charset="0"/>
            </a:endParaRP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['0.4790', '0.4792’]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['0.4999', '0.5001']</a:t>
            </a:r>
            <a:endParaRPr lang="es-ES" sz="1200" dirty="0"/>
          </a:p>
        </p:txBody>
      </p:sp>
      <p:pic>
        <p:nvPicPr>
          <p:cNvPr id="10" name="Imagen 9">
            <a:extLst>
              <a:ext uri="{FF2B5EF4-FFF2-40B4-BE49-F238E27FC236}">
                <a16:creationId xmlns:a16="http://schemas.microsoft.com/office/drawing/2014/main" id="{8DFC2A62-7D11-5B7C-C8B8-B3FB81AF49FB}"/>
              </a:ext>
            </a:extLst>
          </p:cNvPr>
          <p:cNvPicPr>
            <a:picLocks noChangeAspect="1"/>
          </p:cNvPicPr>
          <p:nvPr/>
        </p:nvPicPr>
        <p:blipFill>
          <a:blip r:embed="rId2"/>
          <a:stretch>
            <a:fillRect/>
          </a:stretch>
        </p:blipFill>
        <p:spPr>
          <a:xfrm>
            <a:off x="4924659" y="1531909"/>
            <a:ext cx="5190334" cy="1311053"/>
          </a:xfrm>
          <a:prstGeom prst="rect">
            <a:avLst/>
          </a:prstGeom>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19E4E22-9D27-6757-98A5-7A72AF9441F8}"/>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0.6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1" name="CuadroTexto 10">
                <a:extLst>
                  <a:ext uri="{FF2B5EF4-FFF2-40B4-BE49-F238E27FC236}">
                    <a16:creationId xmlns:a16="http://schemas.microsoft.com/office/drawing/2014/main" id="{819E4E22-9D27-6757-98A5-7A72AF9441F8}"/>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3"/>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C11BE60A-5843-3A08-2C0E-46AED4B28A55}"/>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p:sp>
        <p:nvSpPr>
          <p:cNvPr id="15" name="CuadroTexto 14">
            <a:extLst>
              <a:ext uri="{FF2B5EF4-FFF2-40B4-BE49-F238E27FC236}">
                <a16:creationId xmlns:a16="http://schemas.microsoft.com/office/drawing/2014/main" id="{B625806F-8422-A69B-2429-9AA6080A3CD2}"/>
              </a:ext>
            </a:extLst>
          </p:cNvPr>
          <p:cNvSpPr txBox="1"/>
          <p:nvPr/>
        </p:nvSpPr>
        <p:spPr>
          <a:xfrm>
            <a:off x="597249" y="3828312"/>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64.0328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0.9842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0.9738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0.1153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['0.4870', '0.4868’]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['0.5001', '0.4999']</a:t>
            </a:r>
            <a:endParaRPr lang="es-ES" sz="1200" dirty="0"/>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93FDF45D-08DF-4584-0571-0964C652A395}"/>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0.7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7" name="CuadroTexto 16">
                <a:extLst>
                  <a:ext uri="{FF2B5EF4-FFF2-40B4-BE49-F238E27FC236}">
                    <a16:creationId xmlns:a16="http://schemas.microsoft.com/office/drawing/2014/main" id="{93FDF45D-08DF-4584-0571-0964C652A395}"/>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4"/>
                <a:stretch>
                  <a:fillRect l="-1035" t="-6452" b="-22581"/>
                </a:stretch>
              </a:blipFill>
            </p:spPr>
            <p:txBody>
              <a:bodyPr/>
              <a:lstStyle/>
              <a:p>
                <a:r>
                  <a:rPr lang="es-ES">
                    <a:noFill/>
                  </a:rPr>
                  <a:t> </a:t>
                </a:r>
              </a:p>
            </p:txBody>
          </p:sp>
        </mc:Fallback>
      </mc:AlternateContent>
      <p:pic>
        <p:nvPicPr>
          <p:cNvPr id="18" name="Imagen 17">
            <a:extLst>
              <a:ext uri="{FF2B5EF4-FFF2-40B4-BE49-F238E27FC236}">
                <a16:creationId xmlns:a16="http://schemas.microsoft.com/office/drawing/2014/main" id="{8E041210-043B-3765-75F7-06002BE79EF8}"/>
              </a:ext>
            </a:extLst>
          </p:cNvPr>
          <p:cNvPicPr>
            <a:picLocks noChangeAspect="1"/>
          </p:cNvPicPr>
          <p:nvPr/>
        </p:nvPicPr>
        <p:blipFill>
          <a:blip r:embed="rId5"/>
          <a:stretch>
            <a:fillRect/>
          </a:stretch>
        </p:blipFill>
        <p:spPr>
          <a:xfrm>
            <a:off x="4800600" y="4669670"/>
            <a:ext cx="5987391" cy="1367363"/>
          </a:xfrm>
          <a:prstGeom prst="rect">
            <a:avLst/>
          </a:prstGeom>
        </p:spPr>
      </p:pic>
    </p:spTree>
    <p:extLst>
      <p:ext uri="{BB962C8B-B14F-4D97-AF65-F5344CB8AC3E}">
        <p14:creationId xmlns:p14="http://schemas.microsoft.com/office/powerpoint/2010/main" val="2268854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E3148-B6E6-B76B-7B19-71AC357323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7E5B46-C704-2F0B-CFD8-0BC78912720D}"/>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265617AB-2656-CCC7-5D66-C42821D569CC}"/>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1178175C-A7C8-A292-2C35-EFF4929CD18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B5DB1F9-8A68-7789-7677-CF2DDA947E7C}"/>
              </a:ext>
            </a:extLst>
          </p:cNvPr>
          <p:cNvSpPr>
            <a:spLocks noGrp="1"/>
          </p:cNvSpPr>
          <p:nvPr>
            <p:ph type="sldNum" sz="quarter" idx="7"/>
          </p:nvPr>
        </p:nvSpPr>
        <p:spPr/>
        <p:txBody>
          <a:bodyPr/>
          <a:lstStyle/>
          <a:p>
            <a:fld id="{B6F15528-21DE-4FAA-801E-634DDDAF4B2B}" type="slidenum">
              <a:rPr lang="es-ES" smtClean="0"/>
              <a:t>7</a:t>
            </a:fld>
            <a:endParaRPr lang="es-ES"/>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DFEFE72-0D61-EFF3-131A-0402443DBC58}"/>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0.8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1" name="CuadroTexto 10">
                <a:extLst>
                  <a:ext uri="{FF2B5EF4-FFF2-40B4-BE49-F238E27FC236}">
                    <a16:creationId xmlns:a16="http://schemas.microsoft.com/office/drawing/2014/main" id="{EDFEFE72-0D61-EFF3-131A-0402443DBC58}"/>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7A8B76FB-ACC0-1048-0BA4-BA72FF44C1A5}"/>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C917E0F-9EB2-20D8-7275-16A87B768D38}"/>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0.9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7" name="CuadroTexto 16">
                <a:extLst>
                  <a:ext uri="{FF2B5EF4-FFF2-40B4-BE49-F238E27FC236}">
                    <a16:creationId xmlns:a16="http://schemas.microsoft.com/office/drawing/2014/main" id="{6C917E0F-9EB2-20D8-7275-16A87B768D38}"/>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7" name="CuadroTexto 6">
            <a:extLst>
              <a:ext uri="{FF2B5EF4-FFF2-40B4-BE49-F238E27FC236}">
                <a16:creationId xmlns:a16="http://schemas.microsoft.com/office/drawing/2014/main" id="{DDA41ED5-EA5B-9BC3-CE49-9C2EFF32D70A}"/>
              </a:ext>
            </a:extLst>
          </p:cNvPr>
          <p:cNvSpPr txBox="1"/>
          <p:nvPr/>
        </p:nvSpPr>
        <p:spPr>
          <a:xfrm>
            <a:off x="576106" y="743120"/>
            <a:ext cx="36910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86.9820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0.9881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0.9777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0.0981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['0.4887', '0.4890’]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8" name="Imagen 7">
            <a:extLst>
              <a:ext uri="{FF2B5EF4-FFF2-40B4-BE49-F238E27FC236}">
                <a16:creationId xmlns:a16="http://schemas.microsoft.com/office/drawing/2014/main" id="{E68E7496-AB4A-8C15-3DD0-E95EFD617051}"/>
              </a:ext>
            </a:extLst>
          </p:cNvPr>
          <p:cNvPicPr>
            <a:picLocks noChangeAspect="1"/>
          </p:cNvPicPr>
          <p:nvPr/>
        </p:nvPicPr>
        <p:blipFill>
          <a:blip r:embed="rId4"/>
          <a:stretch>
            <a:fillRect/>
          </a:stretch>
        </p:blipFill>
        <p:spPr>
          <a:xfrm>
            <a:off x="4807610" y="1779017"/>
            <a:ext cx="6234384" cy="1315908"/>
          </a:xfrm>
          <a:prstGeom prst="rect">
            <a:avLst/>
          </a:prstGeom>
        </p:spPr>
      </p:pic>
      <p:sp>
        <p:nvSpPr>
          <p:cNvPr id="14" name="CuadroTexto 13">
            <a:extLst>
              <a:ext uri="{FF2B5EF4-FFF2-40B4-BE49-F238E27FC236}">
                <a16:creationId xmlns:a16="http://schemas.microsoft.com/office/drawing/2014/main" id="{22F7E00C-F421-24ED-86EB-69A7CF1A5477}"/>
              </a:ext>
            </a:extLst>
          </p:cNvPr>
          <p:cNvSpPr txBox="1"/>
          <p:nvPr/>
        </p:nvSpPr>
        <p:spPr>
          <a:xfrm>
            <a:off x="590550" y="3820826"/>
            <a:ext cx="3676650"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117.8872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0.9832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0.9729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0.1194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['0.4864', '0.4865’]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['0.5000', '0.5000']</a:t>
            </a:r>
            <a:endParaRPr lang="es-ES" sz="1200" dirty="0"/>
          </a:p>
        </p:txBody>
      </p:sp>
      <p:pic>
        <p:nvPicPr>
          <p:cNvPr id="16" name="Imagen 15">
            <a:extLst>
              <a:ext uri="{FF2B5EF4-FFF2-40B4-BE49-F238E27FC236}">
                <a16:creationId xmlns:a16="http://schemas.microsoft.com/office/drawing/2014/main" id="{0E8119F3-B3E7-0B97-D580-AFA7D5DC7EA5}"/>
              </a:ext>
            </a:extLst>
          </p:cNvPr>
          <p:cNvPicPr>
            <a:picLocks noChangeAspect="1"/>
          </p:cNvPicPr>
          <p:nvPr/>
        </p:nvPicPr>
        <p:blipFill>
          <a:blip r:embed="rId5"/>
          <a:stretch>
            <a:fillRect/>
          </a:stretch>
        </p:blipFill>
        <p:spPr>
          <a:xfrm>
            <a:off x="4800600" y="4845324"/>
            <a:ext cx="6428549" cy="1267915"/>
          </a:xfrm>
          <a:prstGeom prst="rect">
            <a:avLst/>
          </a:prstGeom>
        </p:spPr>
      </p:pic>
    </p:spTree>
    <p:extLst>
      <p:ext uri="{BB962C8B-B14F-4D97-AF65-F5344CB8AC3E}">
        <p14:creationId xmlns:p14="http://schemas.microsoft.com/office/powerpoint/2010/main" val="4234468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DEFC2-63EA-7FB7-807D-942D89C94D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3C76E0-6C6C-6CA8-49D8-E309C99EB388}"/>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4B7B592B-BC6A-6EDB-E335-07956849C334}"/>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D8DD45FF-E73F-FBFA-2BAA-8CCE01EEF6E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47308A75-E4BB-E50F-8909-F304F8C6190D}"/>
              </a:ext>
            </a:extLst>
          </p:cNvPr>
          <p:cNvSpPr>
            <a:spLocks noGrp="1"/>
          </p:cNvSpPr>
          <p:nvPr>
            <p:ph type="sldNum" sz="quarter" idx="7"/>
          </p:nvPr>
        </p:nvSpPr>
        <p:spPr/>
        <p:txBody>
          <a:bodyPr/>
          <a:lstStyle/>
          <a:p>
            <a:fld id="{B6F15528-21DE-4FAA-801E-634DDDAF4B2B}" type="slidenum">
              <a:rPr lang="es-ES" smtClean="0"/>
              <a:t>8</a:t>
            </a:fld>
            <a:endParaRPr lang="es-ES"/>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5DF3464-727D-D349-E630-FFC36E7E3F2E}"/>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1" name="CuadroTexto 10">
                <a:extLst>
                  <a:ext uri="{FF2B5EF4-FFF2-40B4-BE49-F238E27FC236}">
                    <a16:creationId xmlns:a16="http://schemas.microsoft.com/office/drawing/2014/main" id="{A5DF3464-727D-D349-E630-FFC36E7E3F2E}"/>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E6549F11-35DA-AF40-488C-FED088DA8852}"/>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E804F3A9-FFB9-1FCA-F271-7EA39E0F636F}"/>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1.1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7" name="CuadroTexto 16">
                <a:extLst>
                  <a:ext uri="{FF2B5EF4-FFF2-40B4-BE49-F238E27FC236}">
                    <a16:creationId xmlns:a16="http://schemas.microsoft.com/office/drawing/2014/main" id="{E804F3A9-FFB9-1FCA-F271-7EA39E0F636F}"/>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54F86740-65CD-8973-3D5B-BCD9BD4BF712}"/>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E7FC6A0A-6848-1DF3-4387-6425333F8963}"/>
              </a:ext>
            </a:extLst>
          </p:cNvPr>
          <p:cNvSpPr txBox="1"/>
          <p:nvPr/>
        </p:nvSpPr>
        <p:spPr>
          <a:xfrm>
            <a:off x="576106" y="851883"/>
            <a:ext cx="39196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159.4421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0.9662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0.9559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0.1959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['0.4777', '0.4782’]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['0.4997', '0.5003']</a:t>
            </a:r>
            <a:endParaRPr lang="es-ES" sz="1200" dirty="0"/>
          </a:p>
        </p:txBody>
      </p:sp>
      <p:pic>
        <p:nvPicPr>
          <p:cNvPr id="10" name="Imagen 9">
            <a:extLst>
              <a:ext uri="{FF2B5EF4-FFF2-40B4-BE49-F238E27FC236}">
                <a16:creationId xmlns:a16="http://schemas.microsoft.com/office/drawing/2014/main" id="{58DAC799-E6D1-F3E7-1C7C-B653368C4ADA}"/>
              </a:ext>
            </a:extLst>
          </p:cNvPr>
          <p:cNvPicPr>
            <a:picLocks noChangeAspect="1"/>
          </p:cNvPicPr>
          <p:nvPr/>
        </p:nvPicPr>
        <p:blipFill>
          <a:blip r:embed="rId4"/>
          <a:stretch>
            <a:fillRect/>
          </a:stretch>
        </p:blipFill>
        <p:spPr>
          <a:xfrm>
            <a:off x="4800600" y="1686736"/>
            <a:ext cx="6858000" cy="1257695"/>
          </a:xfrm>
          <a:prstGeom prst="rect">
            <a:avLst/>
          </a:prstGeom>
        </p:spPr>
      </p:pic>
      <p:sp>
        <p:nvSpPr>
          <p:cNvPr id="15" name="CuadroTexto 14">
            <a:extLst>
              <a:ext uri="{FF2B5EF4-FFF2-40B4-BE49-F238E27FC236}">
                <a16:creationId xmlns:a16="http://schemas.microsoft.com/office/drawing/2014/main" id="{3BC785CC-68A1-BC6F-77C8-19B9A177435F}"/>
              </a:ext>
            </a:extLst>
          </p:cNvPr>
          <p:cNvSpPr txBox="1"/>
          <p:nvPr/>
        </p:nvSpPr>
        <p:spPr>
          <a:xfrm>
            <a:off x="609600" y="3820826"/>
            <a:ext cx="4114800" cy="2617063"/>
          </a:xfrm>
          <a:prstGeom prst="rect">
            <a:avLst/>
          </a:prstGeom>
          <a:noFill/>
        </p:spPr>
        <p:txBody>
          <a:bodyPr wrap="square">
            <a:spAutoFit/>
          </a:bodyPr>
          <a:lstStyle/>
          <a:p>
            <a:pPr algn="l">
              <a:lnSpc>
                <a:spcPts val="1350"/>
              </a:lnSpc>
              <a:buNone/>
            </a:pPr>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pPr algn="l">
              <a:lnSpc>
                <a:spcPts val="1350"/>
              </a:lnSpc>
              <a:buNone/>
            </a:pPr>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215.2738 </a:t>
            </a:r>
          </a:p>
          <a:p>
            <a:pPr algn="l">
              <a:lnSpc>
                <a:spcPts val="1350"/>
              </a:lnSpc>
              <a:buNone/>
            </a:pPr>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pPr algn="l">
              <a:lnSpc>
                <a:spcPts val="1350"/>
              </a:lnSpc>
              <a:buNone/>
            </a:pPr>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pPr algn="l">
              <a:lnSpc>
                <a:spcPts val="1350"/>
              </a:lnSpc>
              <a:buNone/>
            </a:pPr>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pPr algn="l">
              <a:lnSpc>
                <a:spcPts val="1350"/>
              </a:lnSpc>
              <a:buNone/>
            </a:pPr>
            <a:r>
              <a:rPr lang="es-ES" sz="1200" b="0" i="0" dirty="0">
                <a:effectLst/>
                <a:latin typeface="Menlo" panose="020B0609030804020204" pitchFamily="49" charset="0"/>
              </a:rPr>
              <a:t>------------------------ </a:t>
            </a:r>
          </a:p>
          <a:p>
            <a:pPr algn="l">
              <a:lnSpc>
                <a:spcPts val="1350"/>
              </a:lnSpc>
              <a:buNone/>
            </a:pPr>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0.9360 </a:t>
            </a:r>
          </a:p>
          <a:p>
            <a:pPr algn="l">
              <a:lnSpc>
                <a:spcPts val="1350"/>
              </a:lnSpc>
              <a:buNone/>
            </a:pPr>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0.9258 </a:t>
            </a:r>
          </a:p>
          <a:p>
            <a:pPr algn="l">
              <a:lnSpc>
                <a:spcPts val="1350"/>
              </a:lnSpc>
              <a:buNone/>
            </a:pPr>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0.3347 </a:t>
            </a:r>
          </a:p>
          <a:p>
            <a:pPr algn="l">
              <a:lnSpc>
                <a:spcPts val="1350"/>
              </a:lnSpc>
              <a:buNone/>
            </a:pPr>
            <a:r>
              <a:rPr lang="es-ES" sz="1200" b="0" i="0" dirty="0">
                <a:effectLst/>
                <a:latin typeface="Menlo" panose="020B0609030804020204" pitchFamily="49" charset="0"/>
              </a:rPr>
              <a:t>------------------------ </a:t>
            </a:r>
          </a:p>
          <a:p>
            <a:pPr algn="l">
              <a:lnSpc>
                <a:spcPts val="1350"/>
              </a:lnSpc>
              <a:buNone/>
            </a:pPr>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['0.4629', '0.4630’] </a:t>
            </a:r>
          </a:p>
          <a:p>
            <a:pPr algn="l">
              <a:lnSpc>
                <a:spcPts val="1350"/>
              </a:lnSpc>
              <a:buNone/>
            </a:pPr>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['0.4999', '0.5001'] </a:t>
            </a:r>
          </a:p>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pic>
        <p:nvPicPr>
          <p:cNvPr id="18" name="Imagen 17">
            <a:extLst>
              <a:ext uri="{FF2B5EF4-FFF2-40B4-BE49-F238E27FC236}">
                <a16:creationId xmlns:a16="http://schemas.microsoft.com/office/drawing/2014/main" id="{872D9F7F-1153-46A1-C6F5-BFD8513C0A6D}"/>
              </a:ext>
            </a:extLst>
          </p:cNvPr>
          <p:cNvPicPr>
            <a:picLocks noChangeAspect="1"/>
          </p:cNvPicPr>
          <p:nvPr/>
        </p:nvPicPr>
        <p:blipFill>
          <a:blip r:embed="rId5"/>
          <a:stretch>
            <a:fillRect/>
          </a:stretch>
        </p:blipFill>
        <p:spPr>
          <a:xfrm>
            <a:off x="4495800" y="4718348"/>
            <a:ext cx="7297356" cy="1287769"/>
          </a:xfrm>
          <a:prstGeom prst="rect">
            <a:avLst/>
          </a:prstGeom>
        </p:spPr>
      </p:pic>
    </p:spTree>
    <p:extLst>
      <p:ext uri="{BB962C8B-B14F-4D97-AF65-F5344CB8AC3E}">
        <p14:creationId xmlns:p14="http://schemas.microsoft.com/office/powerpoint/2010/main" val="1759176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3113F-F31E-36F5-E57C-CD19570770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532A4C-4C35-E612-30C7-0BCB78D161A9}"/>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EB199EFB-19D4-8B55-B050-5BF3F8147F7F}"/>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59CCD188-32CA-5325-471D-826BD24A63E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0E3CA34-9BC2-B1A3-19D0-E16F03C1A64A}"/>
              </a:ext>
            </a:extLst>
          </p:cNvPr>
          <p:cNvSpPr>
            <a:spLocks noGrp="1"/>
          </p:cNvSpPr>
          <p:nvPr>
            <p:ph type="sldNum" sz="quarter" idx="7"/>
          </p:nvPr>
        </p:nvSpPr>
        <p:spPr/>
        <p:txBody>
          <a:bodyPr/>
          <a:lstStyle/>
          <a:p>
            <a:fld id="{B6F15528-21DE-4FAA-801E-634DDDAF4B2B}" type="slidenum">
              <a:rPr lang="es-ES" smtClean="0"/>
              <a:t>9</a:t>
            </a:fld>
            <a:endParaRPr lang="es-ES"/>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8CE1CD0-CD33-FBF0-A37A-CC78FB446CDF}"/>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1.2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1" name="CuadroTexto 10">
                <a:extLst>
                  <a:ext uri="{FF2B5EF4-FFF2-40B4-BE49-F238E27FC236}">
                    <a16:creationId xmlns:a16="http://schemas.microsoft.com/office/drawing/2014/main" id="{48CE1CD0-CD33-FBF0-A37A-CC78FB446CDF}"/>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C039F956-1754-0B3D-0DBA-6D4C6E766BF0}"/>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AAF6DC13-2761-383A-0EC2-1EB3BF02B9B9}"/>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1.3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7" name="CuadroTexto 16">
                <a:extLst>
                  <a:ext uri="{FF2B5EF4-FFF2-40B4-BE49-F238E27FC236}">
                    <a16:creationId xmlns:a16="http://schemas.microsoft.com/office/drawing/2014/main" id="{AAF6DC13-2761-383A-0EC2-1EB3BF02B9B9}"/>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2BC8924D-F660-6B43-F516-6C1012487059}"/>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B9ACCF09-4549-4476-3044-C43A204A10F4}"/>
              </a:ext>
            </a:extLst>
          </p:cNvPr>
          <p:cNvSpPr txBox="1"/>
          <p:nvPr/>
        </p:nvSpPr>
        <p:spPr>
          <a:xfrm>
            <a:off x="576106" y="851883"/>
            <a:ext cx="3919694" cy="276999"/>
          </a:xfrm>
          <a:prstGeom prst="rect">
            <a:avLst/>
          </a:prstGeom>
          <a:noFill/>
        </p:spPr>
        <p:txBody>
          <a:bodyPr wrap="square">
            <a:spAutoFit/>
          </a:bodyPr>
          <a:lstStyle/>
          <a:p>
            <a:endParaRPr lang="es-ES" sz="1200" dirty="0"/>
          </a:p>
        </p:txBody>
      </p:sp>
      <p:sp>
        <p:nvSpPr>
          <p:cNvPr id="15" name="CuadroTexto 14">
            <a:extLst>
              <a:ext uri="{FF2B5EF4-FFF2-40B4-BE49-F238E27FC236}">
                <a16:creationId xmlns:a16="http://schemas.microsoft.com/office/drawing/2014/main" id="{EC1A69B9-7FB1-4A39-E2B0-77BA3DA50897}"/>
              </a:ext>
            </a:extLst>
          </p:cNvPr>
          <p:cNvSpPr txBox="1"/>
          <p:nvPr/>
        </p:nvSpPr>
        <p:spPr>
          <a:xfrm>
            <a:off x="609600" y="3820826"/>
            <a:ext cx="4114800"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7" name="CuadroTexto 6">
            <a:extLst>
              <a:ext uri="{FF2B5EF4-FFF2-40B4-BE49-F238E27FC236}">
                <a16:creationId xmlns:a16="http://schemas.microsoft.com/office/drawing/2014/main" id="{41ADFFD4-B530-8023-A20E-2DD0AB623DF4}"/>
              </a:ext>
            </a:extLst>
          </p:cNvPr>
          <p:cNvSpPr txBox="1"/>
          <p:nvPr/>
        </p:nvSpPr>
        <p:spPr>
          <a:xfrm>
            <a:off x="533400" y="889677"/>
            <a:ext cx="4114800"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290.2146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0.8917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0.8819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0.5458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['0.4408', '0.4411’]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8" name="Imagen 7">
            <a:extLst>
              <a:ext uri="{FF2B5EF4-FFF2-40B4-BE49-F238E27FC236}">
                <a16:creationId xmlns:a16="http://schemas.microsoft.com/office/drawing/2014/main" id="{8A13FDB9-DDFA-8EFF-7F7F-1BEF03B93E50}"/>
              </a:ext>
            </a:extLst>
          </p:cNvPr>
          <p:cNvPicPr>
            <a:picLocks noChangeAspect="1"/>
          </p:cNvPicPr>
          <p:nvPr/>
        </p:nvPicPr>
        <p:blipFill>
          <a:blip r:embed="rId4"/>
          <a:stretch>
            <a:fillRect/>
          </a:stretch>
        </p:blipFill>
        <p:spPr>
          <a:xfrm>
            <a:off x="4611813" y="1712689"/>
            <a:ext cx="7181343" cy="1217598"/>
          </a:xfrm>
          <a:prstGeom prst="rect">
            <a:avLst/>
          </a:prstGeom>
        </p:spPr>
      </p:pic>
      <p:sp>
        <p:nvSpPr>
          <p:cNvPr id="16" name="CuadroTexto 15">
            <a:extLst>
              <a:ext uri="{FF2B5EF4-FFF2-40B4-BE49-F238E27FC236}">
                <a16:creationId xmlns:a16="http://schemas.microsoft.com/office/drawing/2014/main" id="{D4FE4CEC-F487-8320-DC85-C14C956CFED3}"/>
              </a:ext>
            </a:extLst>
          </p:cNvPr>
          <p:cNvSpPr txBox="1"/>
          <p:nvPr/>
        </p:nvSpPr>
        <p:spPr>
          <a:xfrm>
            <a:off x="574640" y="3820826"/>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390.6951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0.8473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0.8378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0.7684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['0.4188', '0.4191’]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19" name="Imagen 18">
            <a:extLst>
              <a:ext uri="{FF2B5EF4-FFF2-40B4-BE49-F238E27FC236}">
                <a16:creationId xmlns:a16="http://schemas.microsoft.com/office/drawing/2014/main" id="{F00C5870-0884-7A7F-809D-34FA948331CE}"/>
              </a:ext>
            </a:extLst>
          </p:cNvPr>
          <p:cNvPicPr>
            <a:picLocks noChangeAspect="1"/>
          </p:cNvPicPr>
          <p:nvPr/>
        </p:nvPicPr>
        <p:blipFill>
          <a:blip r:embed="rId5"/>
          <a:stretch>
            <a:fillRect/>
          </a:stretch>
        </p:blipFill>
        <p:spPr>
          <a:xfrm>
            <a:off x="4756241" y="4845878"/>
            <a:ext cx="6878913" cy="1118716"/>
          </a:xfrm>
          <a:prstGeom prst="rect">
            <a:avLst/>
          </a:prstGeom>
        </p:spPr>
      </p:pic>
    </p:spTree>
    <p:extLst>
      <p:ext uri="{BB962C8B-B14F-4D97-AF65-F5344CB8AC3E}">
        <p14:creationId xmlns:p14="http://schemas.microsoft.com/office/powerpoint/2010/main" val="2088143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C14F-5D06-23CD-4C64-03E4EF848DC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EE3761-1D44-8DB6-3DBE-18FC0486F09C}"/>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7013DCB4-4D0D-845D-AA7D-1F3F72FC5E85}"/>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4D0835CE-91A7-A367-727E-1AAA9F5B47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0AB03CA5-8170-96D8-DEEC-A35B68F6DDD7}"/>
              </a:ext>
            </a:extLst>
          </p:cNvPr>
          <p:cNvSpPr>
            <a:spLocks noGrp="1"/>
          </p:cNvSpPr>
          <p:nvPr>
            <p:ph type="sldNum" sz="quarter" idx="7"/>
          </p:nvPr>
        </p:nvSpPr>
        <p:spPr/>
        <p:txBody>
          <a:bodyPr/>
          <a:lstStyle/>
          <a:p>
            <a:fld id="{B6F15528-21DE-4FAA-801E-634DDDAF4B2B}" type="slidenum">
              <a:rPr lang="es-ES" smtClean="0"/>
              <a:t>10</a:t>
            </a:fld>
            <a:endParaRPr lang="es-ES"/>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622598C-F722-4541-E90F-C038EBF0349A}"/>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1.4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1" name="CuadroTexto 10">
                <a:extLst>
                  <a:ext uri="{FF2B5EF4-FFF2-40B4-BE49-F238E27FC236}">
                    <a16:creationId xmlns:a16="http://schemas.microsoft.com/office/drawing/2014/main" id="{5622598C-F722-4541-E90F-C038EBF0349A}"/>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631E8C8C-F710-710E-C437-C839EA97AE79}"/>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CE1FB77-5E29-944B-32D8-92324FE64C60}"/>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1.5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7" name="CuadroTexto 16">
                <a:extLst>
                  <a:ext uri="{FF2B5EF4-FFF2-40B4-BE49-F238E27FC236}">
                    <a16:creationId xmlns:a16="http://schemas.microsoft.com/office/drawing/2014/main" id="{2CE1FB77-5E29-944B-32D8-92324FE64C60}"/>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993CEC94-ED00-49F6-FF01-89E4A03A1314}"/>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87565C97-1EAA-0DDF-47AE-4CE01D8AEBB7}"/>
              </a:ext>
            </a:extLst>
          </p:cNvPr>
          <p:cNvSpPr txBox="1"/>
          <p:nvPr/>
        </p:nvSpPr>
        <p:spPr>
          <a:xfrm>
            <a:off x="576106" y="851883"/>
            <a:ext cx="3919694" cy="276999"/>
          </a:xfrm>
          <a:prstGeom prst="rect">
            <a:avLst/>
          </a:prstGeom>
          <a:noFill/>
        </p:spPr>
        <p:txBody>
          <a:bodyPr wrap="square">
            <a:spAutoFit/>
          </a:bodyPr>
          <a:lstStyle/>
          <a:p>
            <a:endParaRPr lang="es-ES" sz="1200" dirty="0"/>
          </a:p>
        </p:txBody>
      </p:sp>
      <p:sp>
        <p:nvSpPr>
          <p:cNvPr id="15" name="CuadroTexto 14">
            <a:extLst>
              <a:ext uri="{FF2B5EF4-FFF2-40B4-BE49-F238E27FC236}">
                <a16:creationId xmlns:a16="http://schemas.microsoft.com/office/drawing/2014/main" id="{C1EA6BD2-0EC2-E0D2-B406-26F6BE265220}"/>
              </a:ext>
            </a:extLst>
          </p:cNvPr>
          <p:cNvSpPr txBox="1"/>
          <p:nvPr/>
        </p:nvSpPr>
        <p:spPr>
          <a:xfrm>
            <a:off x="609600" y="3820826"/>
            <a:ext cx="4114800"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10" name="CuadroTexto 9">
            <a:extLst>
              <a:ext uri="{FF2B5EF4-FFF2-40B4-BE49-F238E27FC236}">
                <a16:creationId xmlns:a16="http://schemas.microsoft.com/office/drawing/2014/main" id="{8EE7D8A1-0553-354A-70DF-EBF1E4BEE4D2}"/>
              </a:ext>
            </a:extLst>
          </p:cNvPr>
          <p:cNvSpPr txBox="1"/>
          <p:nvPr/>
        </p:nvSpPr>
        <p:spPr>
          <a:xfrm>
            <a:off x="457200" y="799293"/>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525.2393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0.7871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0.7782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1.0890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['0.3890', '0.3893’]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12" name="Imagen 11">
            <a:extLst>
              <a:ext uri="{FF2B5EF4-FFF2-40B4-BE49-F238E27FC236}">
                <a16:creationId xmlns:a16="http://schemas.microsoft.com/office/drawing/2014/main" id="{6BFFFF62-01A1-1C87-A89D-75D958C589C6}"/>
              </a:ext>
            </a:extLst>
          </p:cNvPr>
          <p:cNvPicPr>
            <a:picLocks noChangeAspect="1"/>
          </p:cNvPicPr>
          <p:nvPr/>
        </p:nvPicPr>
        <p:blipFill>
          <a:blip r:embed="rId4"/>
          <a:stretch>
            <a:fillRect/>
          </a:stretch>
        </p:blipFill>
        <p:spPr>
          <a:xfrm>
            <a:off x="4252651" y="1687290"/>
            <a:ext cx="7810290" cy="1243160"/>
          </a:xfrm>
          <a:prstGeom prst="rect">
            <a:avLst/>
          </a:prstGeom>
        </p:spPr>
      </p:pic>
      <p:sp>
        <p:nvSpPr>
          <p:cNvPr id="20" name="CuadroTexto 19">
            <a:extLst>
              <a:ext uri="{FF2B5EF4-FFF2-40B4-BE49-F238E27FC236}">
                <a16:creationId xmlns:a16="http://schemas.microsoft.com/office/drawing/2014/main" id="{79D7BB79-F448-FDA9-98F5-FB9B5CDEA746}"/>
              </a:ext>
            </a:extLst>
          </p:cNvPr>
          <p:cNvSpPr txBox="1"/>
          <p:nvPr/>
        </p:nvSpPr>
        <p:spPr>
          <a:xfrm>
            <a:off x="457200" y="3830948"/>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705.3303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0.7299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0.7216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1.4167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['0.3608', '0.3609’]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['0.4999', '0.5001']</a:t>
            </a:r>
            <a:endParaRPr lang="es-ES" sz="1200" dirty="0"/>
          </a:p>
        </p:txBody>
      </p:sp>
      <p:pic>
        <p:nvPicPr>
          <p:cNvPr id="21" name="Imagen 20">
            <a:extLst>
              <a:ext uri="{FF2B5EF4-FFF2-40B4-BE49-F238E27FC236}">
                <a16:creationId xmlns:a16="http://schemas.microsoft.com/office/drawing/2014/main" id="{203F4702-D3C4-518D-CE65-71EFD08026BF}"/>
              </a:ext>
            </a:extLst>
          </p:cNvPr>
          <p:cNvPicPr>
            <a:picLocks noChangeAspect="1"/>
          </p:cNvPicPr>
          <p:nvPr/>
        </p:nvPicPr>
        <p:blipFill>
          <a:blip r:embed="rId5"/>
          <a:stretch>
            <a:fillRect/>
          </a:stretch>
        </p:blipFill>
        <p:spPr>
          <a:xfrm>
            <a:off x="4473191" y="4724407"/>
            <a:ext cx="7486513" cy="1165720"/>
          </a:xfrm>
          <a:prstGeom prst="rect">
            <a:avLst/>
          </a:prstGeom>
        </p:spPr>
      </p:pic>
    </p:spTree>
    <p:extLst>
      <p:ext uri="{BB962C8B-B14F-4D97-AF65-F5344CB8AC3E}">
        <p14:creationId xmlns:p14="http://schemas.microsoft.com/office/powerpoint/2010/main" val="224086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793E-9652-D8BD-80FC-A5C5A23FEC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0FFB5E-9B34-5248-B17B-BD7766EF1702}"/>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93C8355E-E680-2BFA-D44D-D63B99D169AB}"/>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3512CE2A-1300-F25B-F677-7F1C3209E3E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6BF6A9C-2CFB-4AC0-2545-20DAEDB1972C}"/>
              </a:ext>
            </a:extLst>
          </p:cNvPr>
          <p:cNvSpPr>
            <a:spLocks noGrp="1"/>
          </p:cNvSpPr>
          <p:nvPr>
            <p:ph type="sldNum" sz="quarter" idx="7"/>
          </p:nvPr>
        </p:nvSpPr>
        <p:spPr/>
        <p:txBody>
          <a:bodyPr/>
          <a:lstStyle/>
          <a:p>
            <a:fld id="{B6F15528-21DE-4FAA-801E-634DDDAF4B2B}" type="slidenum">
              <a:rPr lang="es-ES" smtClean="0"/>
              <a:t>11</a:t>
            </a:fld>
            <a:endParaRPr lang="es-ES"/>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BF1150D-0731-D76A-E6DD-F769F9F9A46F}"/>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1.6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xmlns="">
          <p:sp>
            <p:nvSpPr>
              <p:cNvPr id="11" name="CuadroTexto 10">
                <a:extLst>
                  <a:ext uri="{FF2B5EF4-FFF2-40B4-BE49-F238E27FC236}">
                    <a16:creationId xmlns:a16="http://schemas.microsoft.com/office/drawing/2014/main" id="{3BF1150D-0731-D76A-E6DD-F769F9F9A46F}"/>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66598BE0-37A9-F17A-4E2B-1FD739351A24}"/>
              </a:ext>
            </a:extLst>
          </p:cNvPr>
          <p:cNvCxnSpPr/>
          <p:nvPr/>
        </p:nvCxnSpPr>
        <p:spPr>
          <a:xfrm>
            <a:off x="409575" y="3276600"/>
            <a:ext cx="11353800" cy="0"/>
          </a:xfrm>
          <a:prstGeom prst="line">
            <a:avLst/>
          </a:prstGeom>
        </p:spPr>
        <p:style>
          <a:lnRef idx="1">
            <a:schemeClr val="dk1"/>
          </a:lnRef>
          <a:fillRef idx="0">
            <a:schemeClr val="dk1"/>
          </a:fillRef>
          <a:effectRef idx="0">
            <a:schemeClr val="dk1"/>
          </a:effectRef>
          <a:fontRef idx="minor">
            <a:schemeClr val="tx1"/>
          </a:fontRef>
        </p:style>
      </p:cxnSp>
      <p:sp>
        <p:nvSpPr>
          <p:cNvPr id="14" name="CuadroTexto 13">
            <a:extLst>
              <a:ext uri="{FF2B5EF4-FFF2-40B4-BE49-F238E27FC236}">
                <a16:creationId xmlns:a16="http://schemas.microsoft.com/office/drawing/2014/main" id="{F6BC1AA4-2794-7D01-7CE0-FA83AF30CE3B}"/>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DA44F2A8-CA4F-826E-085D-DD8F8D893316}"/>
              </a:ext>
            </a:extLst>
          </p:cNvPr>
          <p:cNvSpPr txBox="1"/>
          <p:nvPr/>
        </p:nvSpPr>
        <p:spPr>
          <a:xfrm>
            <a:off x="576106" y="851883"/>
            <a:ext cx="3919694" cy="276999"/>
          </a:xfrm>
          <a:prstGeom prst="rect">
            <a:avLst/>
          </a:prstGeom>
          <a:noFill/>
        </p:spPr>
        <p:txBody>
          <a:bodyPr wrap="square">
            <a:spAutoFit/>
          </a:bodyPr>
          <a:lstStyle/>
          <a:p>
            <a:endParaRPr lang="es-ES" sz="1200" dirty="0"/>
          </a:p>
        </p:txBody>
      </p:sp>
      <p:sp>
        <p:nvSpPr>
          <p:cNvPr id="15" name="CuadroTexto 14">
            <a:extLst>
              <a:ext uri="{FF2B5EF4-FFF2-40B4-BE49-F238E27FC236}">
                <a16:creationId xmlns:a16="http://schemas.microsoft.com/office/drawing/2014/main" id="{74892BA5-4E2F-F428-8E2A-2163EA3415D3}"/>
              </a:ext>
            </a:extLst>
          </p:cNvPr>
          <p:cNvSpPr txBox="1"/>
          <p:nvPr/>
        </p:nvSpPr>
        <p:spPr>
          <a:xfrm>
            <a:off x="609600" y="3820826"/>
            <a:ext cx="4114800"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7" name="CuadroTexto 6">
            <a:extLst>
              <a:ext uri="{FF2B5EF4-FFF2-40B4-BE49-F238E27FC236}">
                <a16:creationId xmlns:a16="http://schemas.microsoft.com/office/drawing/2014/main" id="{FA721257-F375-29F6-65DB-AD6A120AAAFD}"/>
              </a:ext>
            </a:extLst>
          </p:cNvPr>
          <p:cNvSpPr txBox="1"/>
          <p:nvPr/>
        </p:nvSpPr>
        <p:spPr>
          <a:xfrm>
            <a:off x="533400" y="851883"/>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946.2335 </a:t>
            </a:r>
            <a:endParaRPr lang="es-ES" sz="1200" dirty="0">
              <a:latin typeface="Menlo" panose="020B0609030804020204" pitchFamily="49" charset="0"/>
            </a:endParaRP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0.6724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0.6648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1.7729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['0.3327', '0.3321’]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['0.5004', '0.4996']</a:t>
            </a:r>
            <a:endParaRPr lang="es-ES" sz="1200" dirty="0"/>
          </a:p>
        </p:txBody>
      </p:sp>
      <p:pic>
        <p:nvPicPr>
          <p:cNvPr id="8" name="Imagen 7">
            <a:extLst>
              <a:ext uri="{FF2B5EF4-FFF2-40B4-BE49-F238E27FC236}">
                <a16:creationId xmlns:a16="http://schemas.microsoft.com/office/drawing/2014/main" id="{DF0C1DA1-6B33-8724-D024-4E5481F10D5F}"/>
              </a:ext>
            </a:extLst>
          </p:cNvPr>
          <p:cNvPicPr>
            <a:picLocks noChangeAspect="1"/>
          </p:cNvPicPr>
          <p:nvPr/>
        </p:nvPicPr>
        <p:blipFill>
          <a:blip r:embed="rId3"/>
          <a:stretch>
            <a:fillRect/>
          </a:stretch>
        </p:blipFill>
        <p:spPr>
          <a:xfrm>
            <a:off x="4232868" y="1647221"/>
            <a:ext cx="7726346" cy="1176329"/>
          </a:xfrm>
          <a:prstGeom prst="rect">
            <a:avLst/>
          </a:prstGeom>
        </p:spPr>
      </p:pic>
      <p:sp>
        <p:nvSpPr>
          <p:cNvPr id="16" name="Rectangle 1">
            <a:extLst>
              <a:ext uri="{FF2B5EF4-FFF2-40B4-BE49-F238E27FC236}">
                <a16:creationId xmlns:a16="http://schemas.microsoft.com/office/drawing/2014/main" id="{22B5B14D-5485-DA59-A483-DED26CD25FFF}"/>
              </a:ext>
            </a:extLst>
          </p:cNvPr>
          <p:cNvSpPr>
            <a:spLocks noChangeArrowheads="1"/>
          </p:cNvSpPr>
          <p:nvPr/>
        </p:nvSpPr>
        <p:spPr bwMode="auto">
          <a:xfrm>
            <a:off x="409575" y="3418950"/>
            <a:ext cx="11506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panose="020B0604020202020204" pitchFamily="34" charset="0"/>
              </a:rPr>
              <a:t>En primer lugar, la </a:t>
            </a:r>
            <a:r>
              <a:rPr kumimoji="0" lang="es-ES" altLang="es-ES" sz="1200" b="1" i="0" u="none" strike="noStrike" cap="none" normalizeH="0" baseline="0" dirty="0">
                <a:ln>
                  <a:noFill/>
                </a:ln>
                <a:solidFill>
                  <a:srgbClr val="000000"/>
                </a:solidFill>
                <a:effectLst/>
                <a:latin typeface="Arial" panose="020B0604020202020204" pitchFamily="34" charset="0"/>
              </a:rPr>
              <a:t>longitud necesaria para alcanzar el 3 dB</a:t>
            </a:r>
            <a:r>
              <a:rPr kumimoji="0" lang="es-ES" altLang="es-ES" sz="1200" b="0" i="0" u="none" strike="noStrike" cap="none" normalizeH="0" baseline="0" dirty="0">
                <a:ln>
                  <a:noFill/>
                </a:ln>
                <a:solidFill>
                  <a:srgbClr val="000000"/>
                </a:solidFill>
                <a:effectLst/>
                <a:latin typeface="Arial" panose="020B0604020202020204" pitchFamily="34" charset="0"/>
              </a:rPr>
              <a:t> crece de forma aproximadamente exponencial con el gap. Pasa de 47 µm (gap = 0.6 µm) a 946 µm (gap = 1.6 µm), multiplicándose aproximadamente por 1.35 cada 0.1 µm. Esto confirma que, al aumentar la separación entre guías, disminuye el solapamiento evanescente, se reduce el coeficiente de acoplo y el batido modal se vuelve más lento, requiriendo dispositivos mucho más largos.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panose="020B0604020202020204" pitchFamily="34" charset="0"/>
              </a:rPr>
              <a:t>En segundo lugar, aparece un compromiso claro entre </a:t>
            </a:r>
            <a:r>
              <a:rPr kumimoji="0" lang="es-ES" altLang="es-ES" sz="1200" b="1" i="0" u="none" strike="noStrike" cap="none" normalizeH="0" baseline="0" dirty="0">
                <a:ln>
                  <a:noFill/>
                </a:ln>
                <a:solidFill>
                  <a:srgbClr val="000000"/>
                </a:solidFill>
                <a:effectLst/>
                <a:latin typeface="Arial" panose="020B0604020202020204" pitchFamily="34" charset="0"/>
              </a:rPr>
              <a:t>gap y pérdidas</a:t>
            </a:r>
            <a:r>
              <a:rPr kumimoji="0" lang="es-ES" altLang="es-ES" sz="1200" b="0" i="0" u="none" strike="noStrike" cap="none" normalizeH="0" baseline="0" dirty="0">
                <a:ln>
                  <a:noFill/>
                </a:ln>
                <a:solidFill>
                  <a:srgbClr val="000000"/>
                </a:solidFill>
                <a:effectLst/>
                <a:latin typeface="Arial" panose="020B0604020202020204" pitchFamily="34" charset="0"/>
              </a:rPr>
              <a:t>. La eficiencia global (Total </a:t>
            </a:r>
            <a:r>
              <a:rPr kumimoji="0" lang="es-ES" altLang="es-ES" sz="1200" b="0" i="0" u="none" strike="noStrike" cap="none" normalizeH="0" baseline="0" dirty="0" err="1">
                <a:ln>
                  <a:noFill/>
                </a:ln>
                <a:solidFill>
                  <a:srgbClr val="000000"/>
                </a:solidFill>
                <a:effectLst/>
                <a:latin typeface="Arial" panose="020B0604020202020204" pitchFamily="34" charset="0"/>
              </a:rPr>
              <a:t>Power</a:t>
            </a:r>
            <a:r>
              <a:rPr kumimoji="0" lang="es-ES" altLang="es-ES" sz="1200" b="0" i="0" u="none" strike="noStrike" cap="none" normalizeH="0" baseline="0" dirty="0">
                <a:ln>
                  <a:noFill/>
                </a:ln>
                <a:solidFill>
                  <a:srgbClr val="000000"/>
                </a:solidFill>
                <a:effectLst/>
                <a:latin typeface="Arial" panose="020B0604020202020204" pitchFamily="34" charset="0"/>
              </a:rPr>
              <a:t> OUT) es máxima alrededor de 0.8 µm (~97.8%) y la pérdida por inserción es mínima (~0.10 dB). A partir de 1.1–1.2 µm la longitud se vuelve tan grande que las pérdidas acumuladas aumentan rápidamente, alcanzando ~1.77 dB para 1.6 µm. Por tanto, gaps grandes penalizan fuertemente el rendimiento debido a las pérdidas introducidas al incrementar la longitud efectiva del dispositivo.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panose="020B0604020202020204" pitchFamily="34" charset="0"/>
              </a:rPr>
              <a:t>En tercer lugar, el </a:t>
            </a:r>
            <a:r>
              <a:rPr kumimoji="0" lang="es-ES" altLang="es-ES" sz="1200" b="1" i="0" u="none" strike="noStrike" cap="none" normalizeH="0" baseline="0" dirty="0">
                <a:ln>
                  <a:noFill/>
                </a:ln>
                <a:solidFill>
                  <a:srgbClr val="000000"/>
                </a:solidFill>
                <a:effectLst/>
                <a:latin typeface="Arial" panose="020B0604020202020204" pitchFamily="34" charset="0"/>
              </a:rPr>
              <a:t>balance entre salidas</a:t>
            </a:r>
            <a:r>
              <a:rPr kumimoji="0" lang="es-ES" altLang="es-ES" sz="1200" b="0" i="0" u="none" strike="noStrike" cap="none" normalizeH="0" baseline="0" dirty="0">
                <a:ln>
                  <a:noFill/>
                </a:ln>
                <a:solidFill>
                  <a:srgbClr val="000000"/>
                </a:solidFill>
                <a:effectLst/>
                <a:latin typeface="Arial" panose="020B0604020202020204" pitchFamily="34" charset="0"/>
              </a:rPr>
              <a:t> es excelente en todos los casos. Las razones de potencia se mantienen prácticamente en 0.5/0.5 (desviaciones del orden de 10⁻³). En conjunto, los resultados indican que el rango </a:t>
            </a:r>
            <a:r>
              <a:rPr kumimoji="0" lang="es-ES" altLang="es-ES" sz="1200" b="1" i="0" u="none" strike="noStrike" cap="none" normalizeH="0" baseline="0" dirty="0">
                <a:ln>
                  <a:noFill/>
                </a:ln>
                <a:solidFill>
                  <a:srgbClr val="000000"/>
                </a:solidFill>
                <a:effectLst/>
                <a:latin typeface="Arial" panose="020B0604020202020204" pitchFamily="34" charset="0"/>
              </a:rPr>
              <a:t>0.7–0.9 µm</a:t>
            </a:r>
            <a:r>
              <a:rPr kumimoji="0" lang="es-ES" altLang="es-ES" sz="1200" b="0" i="0" u="none" strike="noStrike" cap="none" normalizeH="0" baseline="0" dirty="0">
                <a:ln>
                  <a:noFill/>
                </a:ln>
                <a:solidFill>
                  <a:srgbClr val="000000"/>
                </a:solidFill>
                <a:effectLst/>
                <a:latin typeface="Arial" panose="020B0604020202020204" pitchFamily="34" charset="0"/>
              </a:rPr>
              <a:t>, y especialmente 0.8 µm, ofrece el mejor compromiso entre tamaño, eficiencia y bajas pérdidas. Gaps mayores conducen a dispositivos excesivamente largos y con pérdidas significativamente superiores, mientras que gaps más pequeños reducen tamaño (pudiendo comprometer los límites de fabricación) pero no mejoran sustancialmente la eficiencia respecto al óptimo en 0.8 µm.</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382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depende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fuertemente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campo </a:t>
            </a:r>
            <a:r>
              <a:rPr lang="en-US" sz="1200" dirty="0" err="1">
                <a:latin typeface="Arial" panose="020B0604020202020204" pitchFamily="34" charset="0"/>
                <a:cs typeface="Arial" panose="020B0604020202020204" pitchFamily="34" charset="0"/>
              </a:rPr>
              <a:t>evanescente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extiende</a:t>
            </a:r>
            <a:r>
              <a:rPr lang="en-US" sz="1200" dirty="0">
                <a:latin typeface="Arial" panose="020B0604020202020204" pitchFamily="34" charset="0"/>
                <a:cs typeface="Arial" panose="020B0604020202020204" pitchFamily="34" charset="0"/>
              </a:rPr>
              <a:t> fuera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óptico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rápidamente</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separación</a:t>
            </a:r>
            <a:r>
              <a:rPr lang="en-US" sz="1200" dirty="0">
                <a:latin typeface="Arial" panose="020B0604020202020204" pitchFamily="34" charset="0"/>
                <a:cs typeface="Arial" panose="020B0604020202020204" pitchFamily="34" charset="0"/>
              </a:rPr>
              <a:t>. Cuando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próximas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solapamiento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campos </a:t>
            </a:r>
            <a:r>
              <a:rPr lang="en-US" sz="1200" dirty="0" err="1">
                <a:latin typeface="Arial" panose="020B0604020202020204" pitchFamily="34" charset="0"/>
                <a:cs typeface="Arial" panose="020B0604020202020204" pitchFamily="34" charset="0"/>
              </a:rPr>
              <a:t>evanescentes</a:t>
            </a:r>
            <a:r>
              <a:rPr lang="en-US" sz="1200" dirty="0">
                <a:latin typeface="Arial" panose="020B0604020202020204" pitchFamily="34" charset="0"/>
                <a:cs typeface="Arial" panose="020B0604020202020204" pitchFamily="34" charset="0"/>
              </a:rPr>
              <a:t> es mayor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tanto,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incrementar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gap,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solapamiento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valor de K se reduce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tramo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1.2-1.4 um. Para un gap de 1.4 um </a:t>
            </a:r>
            <a:r>
              <a:rPr lang="en-US" sz="1200" dirty="0" err="1">
                <a:latin typeface="Arial" panose="020B0604020202020204" pitchFamily="34" charset="0"/>
                <a:cs typeface="Arial" panose="020B0604020202020204" pitchFamily="34" charset="0"/>
              </a:rPr>
              <a:t>encontramos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no hay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entre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del DC,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quisiéramos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diseñar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circuito</a:t>
            </a:r>
            <a:r>
              <a:rPr lang="en-US" sz="1200" dirty="0">
                <a:latin typeface="Arial" panose="020B0604020202020204" pitchFamily="34" charset="0"/>
                <a:cs typeface="Arial" panose="020B0604020202020204" pitchFamily="34" charset="0"/>
              </a:rPr>
              <a:t> con dos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próximas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tengan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situaríamos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A06E170E-B934-FBBE-20C5-369F3830EE53}"/>
              </a:ext>
            </a:extLst>
          </p:cNvPr>
          <p:cNvPicPr>
            <a:picLocks noChangeAspect="1"/>
          </p:cNvPicPr>
          <p:nvPr/>
        </p:nvPicPr>
        <p:blipFill>
          <a:blip r:embed="rId7"/>
          <a:stretch>
            <a:fillRect/>
          </a:stretch>
        </p:blipFill>
        <p:spPr>
          <a:xfrm>
            <a:off x="631212" y="1350815"/>
            <a:ext cx="5372100" cy="2984500"/>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4876959" cy="20514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F3C52DB-0FC4-00AB-A023-6418B0DD078E}"/>
              </a:ext>
            </a:extLst>
          </p:cNvPr>
          <p:cNvPicPr>
            <a:picLocks noChangeAspect="1"/>
          </p:cNvPicPr>
          <p:nvPr/>
        </p:nvPicPr>
        <p:blipFill>
          <a:blip r:embed="rId5"/>
          <a:stretch>
            <a:fillRect/>
          </a:stretch>
        </p:blipFill>
        <p:spPr>
          <a:xfrm>
            <a:off x="685800" y="1456841"/>
            <a:ext cx="4480743" cy="1843142"/>
          </a:xfrm>
          <a:prstGeom prst="rect">
            <a:avLst/>
          </a:prstGeom>
        </p:spPr>
      </p:pic>
      <p:sp>
        <p:nvSpPr>
          <p:cNvPr id="11" name="CuadroTexto 10">
            <a:extLst>
              <a:ext uri="{FF2B5EF4-FFF2-40B4-BE49-F238E27FC236}">
                <a16:creationId xmlns:a16="http://schemas.microsoft.com/office/drawing/2014/main" id="{2CACABDC-6687-68F7-DC58-A0732C325C44}"/>
              </a:ext>
            </a:extLst>
          </p:cNvPr>
          <p:cNvSpPr txBox="1"/>
          <p:nvPr/>
        </p:nvSpPr>
        <p:spPr>
          <a:xfrm>
            <a:off x="533400" y="3566037"/>
            <a:ext cx="6129494" cy="2769989"/>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34.5180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0.9602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0.9073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0.4225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['0.4673', '0.4400’]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['0.5151', '0.4849’]</a:t>
            </a:r>
          </a:p>
          <a:p>
            <a:r>
              <a:rPr lang="es-ES" sz="1200" dirty="0" err="1">
                <a:latin typeface="Menlo" panose="020B0609030804020204" pitchFamily="49" charset="0"/>
              </a:rPr>
              <a:t>L_pi</a:t>
            </a:r>
            <a:r>
              <a:rPr lang="es-ES" sz="1200" dirty="0">
                <a:latin typeface="Menlo" panose="020B0609030804020204" pitchFamily="49" charset="0"/>
              </a:rPr>
              <a:t> = 69.0359045532976 µm</a:t>
            </a:r>
            <a:endParaRPr lang="es-ES" sz="1200" dirty="0"/>
          </a:p>
          <a:p>
            <a:endParaRPr lang="es-ES" sz="1200" dirty="0"/>
          </a:p>
        </p:txBody>
      </p:sp>
      <p:sp>
        <p:nvSpPr>
          <p:cNvPr id="14" name="Rectangle 1">
            <a:extLst>
              <a:ext uri="{FF2B5EF4-FFF2-40B4-BE49-F238E27FC236}">
                <a16:creationId xmlns:a16="http://schemas.microsoft.com/office/drawing/2014/main" id="{4153C311-BA40-08D7-7D93-6282004D97B0}"/>
              </a:ext>
            </a:extLst>
          </p:cNvPr>
          <p:cNvSpPr>
            <a:spLocks noChangeArrowheads="1"/>
          </p:cNvSpPr>
          <p:nvPr/>
        </p:nvSpPr>
        <p:spPr bwMode="auto">
          <a:xfrm rot="10800000" flipV="1">
            <a:off x="5693390" y="1351269"/>
            <a:ext cx="596521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webkit-standard"/>
              </a:rPr>
              <a:t>En primer lugar, la </a:t>
            </a:r>
            <a:r>
              <a:rPr kumimoji="0" lang="es-ES" altLang="es-ES" sz="1200" i="0" u="none" strike="noStrike" cap="none" normalizeH="0" baseline="0" dirty="0">
                <a:ln>
                  <a:noFill/>
                </a:ln>
                <a:solidFill>
                  <a:srgbClr val="000000"/>
                </a:solidFill>
                <a:effectLst/>
              </a:rPr>
              <a:t>relación de acoplo entre las dos salidas</a:t>
            </a:r>
            <a:r>
              <a:rPr kumimoji="0" lang="es-ES" altLang="es-ES" sz="1200" i="0" u="none" strike="noStrike" cap="none" normalizeH="0" baseline="0" dirty="0">
                <a:ln>
                  <a:noFill/>
                </a:ln>
                <a:solidFill>
                  <a:srgbClr val="000000"/>
                </a:solidFill>
                <a:effectLst/>
                <a:latin typeface="-webkit-standard"/>
              </a:rPr>
              <a:t> </a:t>
            </a:r>
            <a:r>
              <a:rPr kumimoji="0" lang="es-ES" altLang="es-ES" sz="1200" b="0" i="0" u="none" strike="noStrike" cap="none" normalizeH="0" baseline="0" dirty="0">
                <a:ln>
                  <a:noFill/>
                </a:ln>
                <a:solidFill>
                  <a:srgbClr val="000000"/>
                </a:solidFill>
                <a:effectLst/>
                <a:latin typeface="-webkit-standard"/>
              </a:rPr>
              <a:t>es prácticamente equilibrada. La potencia obtenida en las dos guías de salida es aproximadamente </a:t>
            </a:r>
            <a:r>
              <a:rPr kumimoji="0" lang="es-ES" altLang="es-ES" sz="1200" b="1" i="0" u="none" strike="noStrike" cap="none" normalizeH="0" baseline="0" dirty="0">
                <a:ln>
                  <a:noFill/>
                </a:ln>
                <a:solidFill>
                  <a:srgbClr val="000000"/>
                </a:solidFill>
                <a:effectLst/>
              </a:rPr>
              <a:t>0.467 y 0.440</a:t>
            </a:r>
            <a:r>
              <a:rPr kumimoji="0" lang="es-ES" altLang="es-ES" sz="1200" b="0" i="0" u="none" strike="noStrike" cap="none" normalizeH="0" baseline="0" dirty="0">
                <a:ln>
                  <a:noFill/>
                </a:ln>
                <a:solidFill>
                  <a:srgbClr val="000000"/>
                </a:solidFill>
                <a:effectLst/>
                <a:latin typeface="-webkit-standard"/>
              </a:rPr>
              <a:t>, lo que corresponde a una distribución normalizada de </a:t>
            </a:r>
            <a:r>
              <a:rPr kumimoji="0" lang="es-ES" altLang="es-ES" sz="1200" b="1" i="0" u="none" strike="noStrike" cap="none" normalizeH="0" baseline="0" dirty="0">
                <a:ln>
                  <a:noFill/>
                </a:ln>
                <a:solidFill>
                  <a:srgbClr val="000000"/>
                </a:solidFill>
                <a:effectLst/>
              </a:rPr>
              <a:t>51.5 % y 48.5 %</a:t>
            </a:r>
            <a:r>
              <a:rPr kumimoji="0" lang="es-ES" altLang="es-ES" sz="1200" b="0" i="0" u="none" strike="noStrike" cap="none" normalizeH="0" baseline="0" dirty="0">
                <a:ln>
                  <a:noFill/>
                </a:ln>
                <a:solidFill>
                  <a:srgbClr val="000000"/>
                </a:solidFill>
                <a:effectLst/>
                <a:latin typeface="-webkit-standard"/>
              </a:rPr>
              <a:t> respectivamente. Esto indica que el dispositivo funciona como un </a:t>
            </a:r>
            <a:r>
              <a:rPr kumimoji="0" lang="es-ES" altLang="es-ES" sz="1200" i="0" u="none" strike="noStrike" cap="none" normalizeH="0" baseline="0" dirty="0">
                <a:ln>
                  <a:noFill/>
                </a:ln>
                <a:solidFill>
                  <a:srgbClr val="000000"/>
                </a:solidFill>
                <a:effectLst/>
              </a:rPr>
              <a:t>divisor de potencia cercano al ideal 50/50</a:t>
            </a:r>
            <a:r>
              <a:rPr kumimoji="0" lang="es-ES" altLang="es-ES" sz="1200" b="0" i="0" u="none" strike="noStrike" cap="none" normalizeH="0" baseline="0" dirty="0">
                <a:ln>
                  <a:noFill/>
                </a:ln>
                <a:solidFill>
                  <a:srgbClr val="000000"/>
                </a:solidFill>
                <a:effectLst/>
                <a:latin typeface="-webkit-standard"/>
              </a:rPr>
              <a:t>, que es el comportamiento esperado para un MMI 2×2 simétrico. La pequeña desviación respecto al 50/50 perfecto puede deberse a efectos numéricos de la simulación, como el número finito de modos utilizados en la expansión modal, la discretización espacial del mallado o ligeros desajustes modales entre las guías de acceso y la región multimodo.</a:t>
            </a:r>
          </a:p>
          <a:p>
            <a:pPr marL="0" marR="0" lvl="0" indent="0" algn="just" defTabSz="914400" rtl="0" eaLnBrk="0" fontAlgn="base" latinLnBrk="0" hangingPunct="0">
              <a:lnSpc>
                <a:spcPct val="100000"/>
              </a:lnSpc>
              <a:spcBef>
                <a:spcPct val="0"/>
              </a:spcBef>
              <a:spcAft>
                <a:spcPct val="0"/>
              </a:spcAft>
              <a:buClrTx/>
              <a:buSzTx/>
              <a:buFontTx/>
              <a:buNone/>
              <a:tabLst/>
            </a:pPr>
            <a:endParaRPr lang="es-ES" altLang="es-ES" sz="1200" dirty="0">
              <a:solidFill>
                <a:srgbClr val="000000"/>
              </a:solidFill>
              <a:latin typeface="-webkit-standard"/>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webkit-standard"/>
              </a:rPr>
              <a:t>La longitud de simulación del MMI es 34.5 </a:t>
            </a:r>
            <a:r>
              <a:rPr kumimoji="0" lang="es-ES" altLang="es-ES" sz="1200" b="0" i="0" u="none" strike="noStrike" cap="none" normalizeH="0" baseline="0" dirty="0" err="1">
                <a:ln>
                  <a:noFill/>
                </a:ln>
                <a:solidFill>
                  <a:srgbClr val="000000"/>
                </a:solidFill>
                <a:effectLst/>
                <a:latin typeface="-webkit-standard"/>
              </a:rPr>
              <a:t>um</a:t>
            </a:r>
            <a:r>
              <a:rPr kumimoji="0" lang="es-ES" altLang="es-ES" sz="1200" b="0" i="0" u="none" strike="noStrike" cap="none" normalizeH="0" baseline="0" dirty="0">
                <a:ln>
                  <a:noFill/>
                </a:ln>
                <a:solidFill>
                  <a:srgbClr val="000000"/>
                </a:solidFill>
                <a:effectLst/>
                <a:latin typeface="-webkit-standard"/>
              </a:rPr>
              <a:t> que corresponde aproximadamente a la mitad de </a:t>
            </a:r>
            <a:r>
              <a:rPr kumimoji="0" lang="es-ES" altLang="es-ES" sz="1200" b="0" i="0" u="none" strike="noStrike" cap="none" normalizeH="0" baseline="0" dirty="0" err="1">
                <a:ln>
                  <a:noFill/>
                </a:ln>
                <a:solidFill>
                  <a:srgbClr val="000000"/>
                </a:solidFill>
                <a:effectLst/>
                <a:latin typeface="-webkit-standard"/>
              </a:rPr>
              <a:t>L_Pi</a:t>
            </a:r>
            <a:r>
              <a:rPr kumimoji="0" lang="es-ES" altLang="es-ES" sz="1200" b="0" i="0" u="none" strike="noStrike" cap="none" normalizeH="0" baseline="0" dirty="0">
                <a:ln>
                  <a:noFill/>
                </a:ln>
                <a:solidFill>
                  <a:srgbClr val="000000"/>
                </a:solidFill>
                <a:effectLst/>
                <a:latin typeface="-webkit-standard"/>
              </a:rPr>
              <a:t> (69 </a:t>
            </a:r>
            <a:r>
              <a:rPr kumimoji="0" lang="es-ES" altLang="es-ES" sz="1200" b="0" i="0" u="none" strike="noStrike" cap="none" normalizeH="0" baseline="0" dirty="0" err="1">
                <a:ln>
                  <a:noFill/>
                </a:ln>
                <a:solidFill>
                  <a:srgbClr val="000000"/>
                </a:solidFill>
                <a:effectLst/>
                <a:latin typeface="-webkit-standard"/>
              </a:rPr>
              <a:t>um</a:t>
            </a:r>
            <a:r>
              <a:rPr kumimoji="0" lang="es-ES" altLang="es-ES" sz="1200" b="0" i="0" u="none" strike="noStrike" cap="none" normalizeH="0" baseline="0" dirty="0">
                <a:ln>
                  <a:noFill/>
                </a:ln>
                <a:solidFill>
                  <a:srgbClr val="000000"/>
                </a:solidFill>
                <a:effectLst/>
                <a:latin typeface="-webkit-standard"/>
              </a:rPr>
              <a:t>).  Esto es coherente con la teoría de autoimagen en guías multimodo,</a:t>
            </a:r>
            <a:r>
              <a:rPr lang="es-ES" altLang="es-ES" sz="1200" dirty="0">
                <a:solidFill>
                  <a:srgbClr val="000000"/>
                </a:solidFill>
                <a:latin typeface="-webkit-standard"/>
              </a:rPr>
              <a:t> según la cual un MMI 2X2 balanceado genera dos imágenes simétricas del campo de entrada aproximadamente a una distancia L_PI/2.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C6621E61-C4FA-EFC7-88FA-5CC865E720BC}"/>
              </a:ext>
            </a:extLst>
          </p:cNvPr>
          <p:cNvSpPr>
            <a:spLocks noChangeArrowheads="1"/>
          </p:cNvSpPr>
          <p:nvPr/>
        </p:nvSpPr>
        <p:spPr bwMode="auto">
          <a:xfrm rot="10800000" flipV="1">
            <a:off x="5696675" y="3956624"/>
            <a:ext cx="5965208"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webkit-standard"/>
              </a:rPr>
              <a:t>En cuanto a las </a:t>
            </a:r>
            <a:r>
              <a:rPr kumimoji="0" lang="es-ES" altLang="es-ES" sz="1200" i="0" u="none" strike="noStrike" cap="none" normalizeH="0" baseline="0" dirty="0">
                <a:ln>
                  <a:noFill/>
                </a:ln>
                <a:solidFill>
                  <a:srgbClr val="000000"/>
                </a:solidFill>
                <a:effectLst/>
              </a:rPr>
              <a:t>pérdidas del dispositivo</a:t>
            </a:r>
            <a:r>
              <a:rPr kumimoji="0" lang="es-ES" altLang="es-ES" sz="1200" b="0" i="0" u="none" strike="noStrike" cap="none" normalizeH="0" baseline="0" dirty="0">
                <a:ln>
                  <a:noFill/>
                </a:ln>
                <a:solidFill>
                  <a:srgbClr val="000000"/>
                </a:solidFill>
                <a:effectLst/>
                <a:latin typeface="-webkit-standard"/>
              </a:rPr>
              <a:t>, la potencia acoplada a la entrada es aproximadamente </a:t>
            </a:r>
            <a:r>
              <a:rPr kumimoji="0" lang="es-ES" altLang="es-ES" sz="1200" b="1" i="0" u="none" strike="noStrike" cap="none" normalizeH="0" baseline="0" dirty="0">
                <a:ln>
                  <a:noFill/>
                </a:ln>
                <a:solidFill>
                  <a:srgbClr val="000000"/>
                </a:solidFill>
                <a:effectLst/>
              </a:rPr>
              <a:t>0.960</a:t>
            </a:r>
            <a:r>
              <a:rPr kumimoji="0" lang="es-ES" altLang="es-ES" sz="1200" b="0" i="0" u="none" strike="noStrike" cap="none" normalizeH="0" baseline="0" dirty="0">
                <a:ln>
                  <a:noFill/>
                </a:ln>
                <a:solidFill>
                  <a:srgbClr val="000000"/>
                </a:solidFill>
                <a:effectLst/>
                <a:latin typeface="-webkit-standard"/>
              </a:rPr>
              <a:t>, mientras que la potencia total obtenida en las salidas es </a:t>
            </a:r>
            <a:r>
              <a:rPr kumimoji="0" lang="es-ES" altLang="es-ES" sz="1200" b="1" i="0" u="none" strike="noStrike" cap="none" normalizeH="0" baseline="0" dirty="0">
                <a:ln>
                  <a:noFill/>
                </a:ln>
                <a:solidFill>
                  <a:srgbClr val="000000"/>
                </a:solidFill>
                <a:effectLst/>
              </a:rPr>
              <a:t>0.907</a:t>
            </a:r>
            <a:r>
              <a:rPr kumimoji="0" lang="es-ES" altLang="es-ES" sz="1200" b="0" i="0" u="none" strike="noStrike" cap="none" normalizeH="0" baseline="0" dirty="0">
                <a:ln>
                  <a:noFill/>
                </a:ln>
                <a:solidFill>
                  <a:srgbClr val="000000"/>
                </a:solidFill>
                <a:effectLst/>
                <a:latin typeface="-webkit-standard"/>
              </a:rPr>
              <a:t>. Esto conduce a una </a:t>
            </a:r>
            <a:r>
              <a:rPr kumimoji="0" lang="es-ES" altLang="es-ES" sz="1200" i="0" u="none" strike="noStrike" cap="none" normalizeH="0" baseline="0" dirty="0">
                <a:ln>
                  <a:noFill/>
                </a:ln>
                <a:solidFill>
                  <a:srgbClr val="000000"/>
                </a:solidFill>
                <a:effectLst/>
              </a:rPr>
              <a:t>pérdida excesiva de aproximadamente </a:t>
            </a:r>
            <a:r>
              <a:rPr kumimoji="0" lang="es-ES" altLang="es-ES" sz="1200" b="1" i="0" u="none" strike="noStrike" cap="none" normalizeH="0" baseline="0" dirty="0">
                <a:ln>
                  <a:noFill/>
                </a:ln>
                <a:solidFill>
                  <a:srgbClr val="000000"/>
                </a:solidFill>
                <a:effectLst/>
              </a:rPr>
              <a:t>0.42 dB</a:t>
            </a:r>
            <a:r>
              <a:rPr kumimoji="0" lang="es-ES" altLang="es-ES" sz="1200" b="0" i="0" u="none" strike="noStrike" cap="none" normalizeH="0" baseline="0" dirty="0">
                <a:ln>
                  <a:noFill/>
                </a:ln>
                <a:solidFill>
                  <a:srgbClr val="000000"/>
                </a:solidFill>
                <a:effectLst/>
                <a:latin typeface="-webkit-standard"/>
              </a:rPr>
              <a:t>. Estas pérdidas se explican principalmente por el desajuste modal entre las guías de entrada y la región multimodo, así como por pequeñas pérdidas por radiación o por la aproximación modal utilizada en la simulación.  Comparando estas pérdidas con las del DC, observamos que para una separación de guías del DC reducida se obtienen menos pérdidas que para un MMI. Por otra parte, si el gap entre guías se incrementa, el DC produce unas pérdidas mayores a las del MMI. </a:t>
            </a:r>
            <a:r>
              <a:rPr lang="es-ES" altLang="es-ES" sz="1200" dirty="0">
                <a:solidFill>
                  <a:srgbClr val="000000"/>
                </a:solidFill>
                <a:latin typeface="-webkit-standard"/>
              </a:rPr>
              <a:t>Esto se debe a que el DC es mucho más sensible a la fabricación que el MMI, ya que sus pérdidas varían bastante como hemos visto anteriormente, mientras que las pérdidas del MMI se pueden mantener más estables.</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5679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8365843" y="1377510"/>
            <a:ext cx="3351211" cy="544764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a:t>
            </a:r>
          </a:p>
          <a:p>
            <a:pPr algn="just"/>
            <a:endParaRPr lang="en-US" sz="1200" b="1"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primera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optimización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ajuste</a:t>
            </a:r>
            <a:r>
              <a:rPr lang="en-US" sz="1200" dirty="0">
                <a:latin typeface="Arial" panose="020B0604020202020204" pitchFamily="34" charset="0"/>
                <a:cs typeface="Arial" panose="020B0604020202020204" pitchFamily="34" charset="0"/>
              </a:rPr>
              <a:t> de la longitude del MMI y de la </a:t>
            </a:r>
            <a:r>
              <a:rPr lang="en-US" sz="1200" dirty="0" err="1">
                <a:latin typeface="Arial" panose="020B0604020202020204" pitchFamily="34" charset="0"/>
                <a:cs typeface="Arial" panose="020B0604020202020204" pitchFamily="34" charset="0"/>
              </a:rPr>
              <a:t>posición</a:t>
            </a:r>
            <a:r>
              <a:rPr lang="en-US" sz="1200" dirty="0">
                <a:latin typeface="Arial" panose="020B0604020202020204" pitchFamily="34" charset="0"/>
                <a:cs typeface="Arial" panose="020B0604020202020204" pitchFamily="34" charset="0"/>
              </a:rPr>
              <a:t> lateral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entrada /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mejora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bastante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anterior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mostraba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0.442 dB </a:t>
            </a:r>
            <a:r>
              <a:rPr lang="en-US" sz="1200" dirty="0" err="1">
                <a:latin typeface="Arial" panose="020B0604020202020204" pitchFamily="34" charset="0"/>
                <a:cs typeface="Arial" panose="020B0604020202020204" pitchFamily="34" charset="0"/>
              </a:rPr>
              <a:t>frente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0.386 dB de </a:t>
            </a:r>
            <a:r>
              <a:rPr lang="en-US" sz="1200" dirty="0" err="1">
                <a:latin typeface="Arial" panose="020B0604020202020204" pitchFamily="34" charset="0"/>
                <a:cs typeface="Arial" panose="020B0604020202020204" pitchFamily="34" charset="0"/>
              </a:rPr>
              <a:t>ahora</a:t>
            </a:r>
            <a:r>
              <a:rPr lang="en-US" sz="1200" dirty="0">
                <a:latin typeface="Arial" panose="020B0604020202020204" pitchFamily="34" charset="0"/>
                <a:cs typeface="Arial" panose="020B0604020202020204" pitchFamily="34" charset="0"/>
              </a:rPr>
              <a:t>. Esto se ha </a:t>
            </a:r>
            <a:r>
              <a:rPr lang="en-US" sz="1200" dirty="0" err="1">
                <a:latin typeface="Arial" panose="020B0604020202020204" pitchFamily="34" charset="0"/>
                <a:cs typeface="Arial" panose="020B0604020202020204" pitchFamily="34" charset="0"/>
              </a:rPr>
              <a:t>conseguido</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aplicar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variación</a:t>
            </a:r>
            <a:r>
              <a:rPr lang="en-US" sz="1200" dirty="0">
                <a:latin typeface="Arial" panose="020B0604020202020204" pitchFamily="34" charset="0"/>
                <a:cs typeface="Arial" panose="020B0604020202020204" pitchFamily="34" charset="0"/>
              </a:rPr>
              <a:t> de dL = -0.5 um y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 0.05 um.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major </a:t>
            </a:r>
            <a:r>
              <a:rPr lang="en-US" sz="1200" dirty="0" err="1">
                <a:latin typeface="Arial" panose="020B0604020202020204" pitchFamily="34" charset="0"/>
                <a:cs typeface="Arial" panose="020B0604020202020204" pitchFamily="34" charset="0"/>
              </a:rPr>
              <a:t>coincidencia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patron de </a:t>
            </a:r>
            <a:r>
              <a:rPr lang="en-US" sz="1200" dirty="0" err="1">
                <a:latin typeface="Arial" panose="020B0604020202020204" pitchFamily="34" charset="0"/>
                <a:cs typeface="Arial" panose="020B0604020202020204" pitchFamily="34" charset="0"/>
              </a:rPr>
              <a:t>autoimagen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dentro</a:t>
            </a:r>
            <a:r>
              <a:rPr lang="en-US" sz="1200" dirty="0">
                <a:latin typeface="Arial" panose="020B0604020202020204" pitchFamily="34" charset="0"/>
                <a:cs typeface="Arial" panose="020B0604020202020204" pitchFamily="34" charset="0"/>
              </a:rPr>
              <a:t> de la region </a:t>
            </a:r>
            <a:r>
              <a:rPr lang="en-US" sz="1200" dirty="0" err="1">
                <a:latin typeface="Arial" panose="020B0604020202020204" pitchFamily="34" charset="0"/>
                <a:cs typeface="Arial" panose="020B0604020202020204" pitchFamily="34" charset="0"/>
              </a:rPr>
              <a:t>multimodo</a:t>
            </a:r>
            <a:r>
              <a:rPr lang="en-US" sz="1200" dirty="0">
                <a:latin typeface="Arial" panose="020B0604020202020204" pitchFamily="34" charset="0"/>
                <a:cs typeface="Arial" panose="020B0604020202020204" pitchFamily="34" charset="0"/>
              </a:rPr>
              <a:t> y la </a:t>
            </a:r>
            <a:r>
              <a:rPr lang="en-US" sz="1200" dirty="0" err="1">
                <a:latin typeface="Arial" panose="020B0604020202020204" pitchFamily="34" charset="0"/>
                <a:cs typeface="Arial" panose="020B0604020202020204" pitchFamily="34" charset="0"/>
              </a:rPr>
              <a:t>posición</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Como </a:t>
            </a:r>
            <a:r>
              <a:rPr lang="en-US" sz="1200" dirty="0" err="1">
                <a:latin typeface="Arial" panose="020B0604020202020204" pitchFamily="34" charset="0"/>
                <a:cs typeface="Arial" panose="020B0604020202020204" pitchFamily="34" charset="0"/>
              </a:rPr>
              <a:t>consecuencia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y se </a:t>
            </a:r>
            <a:r>
              <a:rPr lang="en-US" sz="1200" dirty="0" err="1">
                <a:latin typeface="Arial" panose="020B0604020202020204" pitchFamily="34" charset="0"/>
                <a:cs typeface="Arial" panose="020B0604020202020204" pitchFamily="34" charset="0"/>
              </a:rPr>
              <a:t>reducen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desajuste</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Esto indica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modificaciones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geométricas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pueden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desplazar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plano de </a:t>
            </a:r>
            <a:r>
              <a:rPr lang="en-US" sz="1200" dirty="0" err="1">
                <a:latin typeface="Arial" panose="020B0604020202020204" pitchFamily="34" charset="0"/>
                <a:cs typeface="Arial" panose="020B0604020202020204" pitchFamily="34" charset="0"/>
              </a:rPr>
              <a:t>autoimagen</a:t>
            </a:r>
            <a:r>
              <a:rPr lang="en-US" sz="1200" dirty="0">
                <a:latin typeface="Arial" panose="020B0604020202020204" pitchFamily="34" charset="0"/>
                <a:cs typeface="Arial" panose="020B0604020202020204" pitchFamily="34" charset="0"/>
              </a:rPr>
              <a:t> hasta </a:t>
            </a:r>
            <a:r>
              <a:rPr lang="en-US" sz="1200" dirty="0" err="1">
                <a:latin typeface="Arial" panose="020B0604020202020204" pitchFamily="34" charset="0"/>
                <a:cs typeface="Arial" panose="020B0604020202020204" pitchFamily="34" charset="0"/>
              </a:rPr>
              <a:t>hacerlo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coincidir</a:t>
            </a:r>
            <a:r>
              <a:rPr lang="en-US" sz="1200" dirty="0">
                <a:latin typeface="Arial" panose="020B0604020202020204" pitchFamily="34" charset="0"/>
                <a:cs typeface="Arial" panose="020B0604020202020204" pitchFamily="34" charset="0"/>
              </a:rPr>
              <a:t> major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plano de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dispositivo</a:t>
            </a:r>
            <a:r>
              <a:rPr lang="en-US" sz="1200" dirty="0">
                <a:latin typeface="Arial" panose="020B0604020202020204" pitchFamily="34" charset="0"/>
                <a:cs typeface="Arial" panose="020B0604020202020204" pitchFamily="34" charset="0"/>
              </a:rPr>
              <a:t>. Por tanto, la </a:t>
            </a:r>
            <a:r>
              <a:rPr lang="en-US" sz="1200" dirty="0" err="1">
                <a:latin typeface="Arial" panose="020B0604020202020204" pitchFamily="34" charset="0"/>
                <a:cs typeface="Arial" panose="020B0604020202020204" pitchFamily="34" charset="0"/>
              </a:rPr>
              <a:t>optimización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geométrica</a:t>
            </a:r>
            <a:r>
              <a:rPr lang="en-US" sz="1200" dirty="0">
                <a:latin typeface="Arial" panose="020B0604020202020204" pitchFamily="34" charset="0"/>
                <a:cs typeface="Arial" panose="020B0604020202020204" pitchFamily="34" charset="0"/>
              </a:rPr>
              <a:t> del MMI es </a:t>
            </a:r>
            <a:r>
              <a:rPr lang="en-US" sz="1200" dirty="0" err="1">
                <a:latin typeface="Arial" panose="020B0604020202020204" pitchFamily="34" charset="0"/>
                <a:cs typeface="Arial" panose="020B0604020202020204" pitchFamily="34" charset="0"/>
              </a:rPr>
              <a:t>crítica</a:t>
            </a:r>
            <a:r>
              <a:rPr lang="en-US" sz="1200" dirty="0">
                <a:latin typeface="Arial" panose="020B0604020202020204" pitchFamily="34" charset="0"/>
                <a:cs typeface="Arial" panose="020B0604020202020204" pitchFamily="34" charset="0"/>
              </a:rPr>
              <a:t> para minimizer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inserción</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un divisor </a:t>
            </a:r>
            <a:r>
              <a:rPr lang="en-US" sz="1200" dirty="0" err="1">
                <a:latin typeface="Arial" panose="020B0604020202020204" pitchFamily="34" charset="0"/>
                <a:cs typeface="Arial" panose="020B0604020202020204" pitchFamily="34" charset="0"/>
              </a:rPr>
              <a:t>casi</a:t>
            </a:r>
            <a:r>
              <a:rPr lang="en-US" sz="1200" dirty="0">
                <a:latin typeface="Arial" panose="020B0604020202020204" pitchFamily="34" charset="0"/>
                <a:cs typeface="Arial" panose="020B0604020202020204" pitchFamily="34" charset="0"/>
              </a:rPr>
              <a:t> ideal de 50:50.</a:t>
            </a:r>
          </a:p>
          <a:p>
            <a:pPr algn="just"/>
            <a:endParaRPr lang="en-US" sz="1200" b="1"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7696359" cy="29970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4F7E2C30-D3D8-C810-6D5A-F3210FBEF908}"/>
              </a:ext>
            </a:extLst>
          </p:cNvPr>
          <p:cNvSpPr txBox="1"/>
          <p:nvPr/>
        </p:nvSpPr>
        <p:spPr>
          <a:xfrm>
            <a:off x="6705600" y="1935690"/>
            <a:ext cx="6129494"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9" name="CuadroTexto 8">
            <a:extLst>
              <a:ext uri="{FF2B5EF4-FFF2-40B4-BE49-F238E27FC236}">
                <a16:creationId xmlns:a16="http://schemas.microsoft.com/office/drawing/2014/main" id="{0D4B66EA-7B9E-6600-485B-5F47CF7A9383}"/>
              </a:ext>
            </a:extLst>
          </p:cNvPr>
          <p:cNvSpPr txBox="1"/>
          <p:nvPr/>
        </p:nvSpPr>
        <p:spPr>
          <a:xfrm>
            <a:off x="1166413" y="3222993"/>
            <a:ext cx="3878593" cy="276999"/>
          </a:xfrm>
          <a:prstGeom prst="rect">
            <a:avLst/>
          </a:prstGeom>
          <a:noFill/>
        </p:spPr>
        <p:txBody>
          <a:bodyPr wrap="square" rtlCol="0">
            <a:spAutoFit/>
          </a:bodyPr>
          <a:lstStyle/>
          <a:p>
            <a:r>
              <a:rPr lang="es-ES" sz="1200" dirty="0"/>
              <a:t>Ejecutado con </a:t>
            </a:r>
            <a:r>
              <a:rPr lang="es-ES" sz="1200" dirty="0" err="1"/>
              <a:t>dL</a:t>
            </a:r>
            <a:r>
              <a:rPr lang="es-ES" sz="1200" dirty="0"/>
              <a:t> = -0.5 y </a:t>
            </a:r>
            <a:r>
              <a:rPr lang="es-ES" sz="1200" dirty="0" err="1"/>
              <a:t>dy</a:t>
            </a:r>
            <a:r>
              <a:rPr lang="es-ES" sz="1200" dirty="0"/>
              <a:t> = 0.05</a:t>
            </a:r>
          </a:p>
        </p:txBody>
      </p:sp>
      <p:pic>
        <p:nvPicPr>
          <p:cNvPr id="10" name="Imagen 9">
            <a:extLst>
              <a:ext uri="{FF2B5EF4-FFF2-40B4-BE49-F238E27FC236}">
                <a16:creationId xmlns:a16="http://schemas.microsoft.com/office/drawing/2014/main" id="{577BFC49-CE1E-3873-0C0D-A0CC370D533B}"/>
              </a:ext>
            </a:extLst>
          </p:cNvPr>
          <p:cNvPicPr>
            <a:picLocks noChangeAspect="1"/>
          </p:cNvPicPr>
          <p:nvPr/>
        </p:nvPicPr>
        <p:blipFill>
          <a:blip r:embed="rId5"/>
          <a:stretch>
            <a:fillRect/>
          </a:stretch>
        </p:blipFill>
        <p:spPr>
          <a:xfrm>
            <a:off x="812078" y="1679794"/>
            <a:ext cx="3581400" cy="1485900"/>
          </a:xfrm>
          <a:prstGeom prst="rect">
            <a:avLst/>
          </a:prstGeom>
        </p:spPr>
      </p:pic>
      <p:sp>
        <p:nvSpPr>
          <p:cNvPr id="12" name="CuadroTexto 11">
            <a:extLst>
              <a:ext uri="{FF2B5EF4-FFF2-40B4-BE49-F238E27FC236}">
                <a16:creationId xmlns:a16="http://schemas.microsoft.com/office/drawing/2014/main" id="{4BDAC61A-B416-410A-3922-68E317DAE8F6}"/>
              </a:ext>
            </a:extLst>
          </p:cNvPr>
          <p:cNvSpPr txBox="1"/>
          <p:nvPr/>
        </p:nvSpPr>
        <p:spPr>
          <a:xfrm>
            <a:off x="4596115" y="1733579"/>
            <a:ext cx="6420896" cy="2308324"/>
          </a:xfrm>
          <a:prstGeom prst="rect">
            <a:avLst/>
          </a:prstGeom>
          <a:noFill/>
        </p:spPr>
        <p:txBody>
          <a:bodyPr wrap="square">
            <a:spAutoFit/>
          </a:bodyPr>
          <a:lstStyle/>
          <a:p>
            <a:pPr algn="just"/>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pPr algn="just"/>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34.5180 </a:t>
            </a:r>
          </a:p>
          <a:p>
            <a:pPr algn="just"/>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-0.5000 </a:t>
            </a:r>
          </a:p>
          <a:p>
            <a:pPr algn="just"/>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pPr algn="just"/>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pPr algn="just"/>
            <a:r>
              <a:rPr lang="es-ES" sz="1200" b="0" i="0" dirty="0">
                <a:effectLst/>
                <a:latin typeface="Menlo" panose="020B0609030804020204" pitchFamily="49" charset="0"/>
              </a:rPr>
              <a:t>------------------------ </a:t>
            </a:r>
          </a:p>
          <a:p>
            <a:pPr algn="just"/>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0.9569 </a:t>
            </a:r>
          </a:p>
          <a:p>
            <a:pPr algn="just"/>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0.9148 </a:t>
            </a:r>
          </a:p>
          <a:p>
            <a:pPr algn="just"/>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0.3867 </a:t>
            </a:r>
          </a:p>
          <a:p>
            <a:pPr algn="just"/>
            <a:r>
              <a:rPr lang="es-ES" sz="1200" b="0" i="0" dirty="0">
                <a:effectLst/>
                <a:latin typeface="Menlo" panose="020B0609030804020204" pitchFamily="49" charset="0"/>
              </a:rPr>
              <a:t>------------------------ </a:t>
            </a:r>
          </a:p>
          <a:p>
            <a:pPr algn="just"/>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['0.4629', '0.4519’] </a:t>
            </a:r>
          </a:p>
          <a:p>
            <a:pPr algn="just"/>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['0.5061', '0.4939']</a:t>
            </a:r>
            <a:endParaRPr lang="es-ES" sz="1200" dirty="0"/>
          </a:p>
        </p:txBody>
      </p:sp>
    </p:spTree>
    <p:extLst>
      <p:ext uri="{BB962C8B-B14F-4D97-AF65-F5344CB8AC3E}">
        <p14:creationId xmlns:p14="http://schemas.microsoft.com/office/powerpoint/2010/main" val="2685215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D6DB98-2E56-B95D-602B-84B74E7DBB05}"/>
              </a:ext>
            </a:extLst>
          </p:cNvPr>
          <p:cNvSpPr>
            <a:spLocks noGrp="1"/>
          </p:cNvSpPr>
          <p:nvPr>
            <p:ph type="title"/>
          </p:nvPr>
        </p:nvSpPr>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4.3 </a:t>
            </a:r>
          </a:p>
        </p:txBody>
      </p:sp>
      <p:sp>
        <p:nvSpPr>
          <p:cNvPr id="3" name="Marcador de texto 2">
            <a:extLst>
              <a:ext uri="{FF2B5EF4-FFF2-40B4-BE49-F238E27FC236}">
                <a16:creationId xmlns:a16="http://schemas.microsoft.com/office/drawing/2014/main" id="{A0A93694-30A8-70D4-6C53-F940268A0A60}"/>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36A053D9-C319-BB7F-D63C-6D9D4D47959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494B188-AD08-95A4-DAFF-3ADE25927878}"/>
              </a:ext>
            </a:extLst>
          </p:cNvPr>
          <p:cNvSpPr>
            <a:spLocks noGrp="1"/>
          </p:cNvSpPr>
          <p:nvPr>
            <p:ph type="sldNum" sz="quarter" idx="7"/>
          </p:nvPr>
        </p:nvSpPr>
        <p:spPr/>
        <p:txBody>
          <a:bodyPr/>
          <a:lstStyle/>
          <a:p>
            <a:fld id="{B6F15528-21DE-4FAA-801E-634DDDAF4B2B}" type="slidenum">
              <a:rPr lang="es-ES" smtClean="0"/>
              <a:t>17</a:t>
            </a:fld>
            <a:endParaRPr lang="es-ES"/>
          </a:p>
        </p:txBody>
      </p:sp>
      <p:graphicFrame>
        <p:nvGraphicFramePr>
          <p:cNvPr id="6" name="Tabla 5">
            <a:extLst>
              <a:ext uri="{FF2B5EF4-FFF2-40B4-BE49-F238E27FC236}">
                <a16:creationId xmlns:a16="http://schemas.microsoft.com/office/drawing/2014/main" id="{9782EA7D-49B5-6CDF-8DAB-A2FBB7DAA68C}"/>
              </a:ext>
            </a:extLst>
          </p:cNvPr>
          <p:cNvGraphicFramePr>
            <a:graphicFrameLocks noGrp="1"/>
          </p:cNvGraphicFramePr>
          <p:nvPr>
            <p:extLst>
              <p:ext uri="{D42A27DB-BD31-4B8C-83A1-F6EECF244321}">
                <p14:modId xmlns:p14="http://schemas.microsoft.com/office/powerpoint/2010/main" val="3686321820"/>
              </p:ext>
            </p:extLst>
          </p:nvPr>
        </p:nvGraphicFramePr>
        <p:xfrm>
          <a:off x="590550" y="856893"/>
          <a:ext cx="10991850" cy="2123440"/>
        </p:xfrm>
        <a:graphic>
          <a:graphicData uri="http://schemas.openxmlformats.org/drawingml/2006/table">
            <a:tbl>
              <a:tblPr firstRow="1" bandRow="1">
                <a:tableStyleId>{85BE263C-DBD7-4A20-BB59-AAB30ACAA65A}</a:tableStyleId>
              </a:tblPr>
              <a:tblGrid>
                <a:gridCol w="1831975">
                  <a:extLst>
                    <a:ext uri="{9D8B030D-6E8A-4147-A177-3AD203B41FA5}">
                      <a16:colId xmlns:a16="http://schemas.microsoft.com/office/drawing/2014/main" val="3351537421"/>
                    </a:ext>
                  </a:extLst>
                </a:gridCol>
                <a:gridCol w="1831975">
                  <a:extLst>
                    <a:ext uri="{9D8B030D-6E8A-4147-A177-3AD203B41FA5}">
                      <a16:colId xmlns:a16="http://schemas.microsoft.com/office/drawing/2014/main" val="2606073543"/>
                    </a:ext>
                  </a:extLst>
                </a:gridCol>
                <a:gridCol w="1831975">
                  <a:extLst>
                    <a:ext uri="{9D8B030D-6E8A-4147-A177-3AD203B41FA5}">
                      <a16:colId xmlns:a16="http://schemas.microsoft.com/office/drawing/2014/main" val="3006589487"/>
                    </a:ext>
                  </a:extLst>
                </a:gridCol>
                <a:gridCol w="1831975">
                  <a:extLst>
                    <a:ext uri="{9D8B030D-6E8A-4147-A177-3AD203B41FA5}">
                      <a16:colId xmlns:a16="http://schemas.microsoft.com/office/drawing/2014/main" val="2168092952"/>
                    </a:ext>
                  </a:extLst>
                </a:gridCol>
                <a:gridCol w="2444750">
                  <a:extLst>
                    <a:ext uri="{9D8B030D-6E8A-4147-A177-3AD203B41FA5}">
                      <a16:colId xmlns:a16="http://schemas.microsoft.com/office/drawing/2014/main" val="1091300434"/>
                    </a:ext>
                  </a:extLst>
                </a:gridCol>
                <a:gridCol w="1219200">
                  <a:extLst>
                    <a:ext uri="{9D8B030D-6E8A-4147-A177-3AD203B41FA5}">
                      <a16:colId xmlns:a16="http://schemas.microsoft.com/office/drawing/2014/main" val="1176075596"/>
                    </a:ext>
                  </a:extLst>
                </a:gridCol>
              </a:tblGrid>
              <a:tr h="245467">
                <a:tc>
                  <a:txBody>
                    <a:bodyPr/>
                    <a:lstStyle/>
                    <a:p>
                      <a:r>
                        <a:rPr lang="en-US" sz="1800" u="sng" dirty="0"/>
                        <a:t>I/O waveguide width (um)</a:t>
                      </a:r>
                      <a:endParaRPr lang="es-ES" dirty="0"/>
                    </a:p>
                  </a:txBody>
                  <a:tcPr/>
                </a:tc>
                <a:tc>
                  <a:txBody>
                    <a:bodyPr/>
                    <a:lstStyle/>
                    <a:p>
                      <a:r>
                        <a:rPr lang="es-ES" dirty="0" err="1"/>
                        <a:t>dy</a:t>
                      </a:r>
                      <a:r>
                        <a:rPr lang="es-ES" dirty="0"/>
                        <a:t> </a:t>
                      </a:r>
                    </a:p>
                  </a:txBody>
                  <a:tcPr/>
                </a:tc>
                <a:tc>
                  <a:txBody>
                    <a:bodyPr/>
                    <a:lstStyle/>
                    <a:p>
                      <a:r>
                        <a:rPr lang="es-ES" dirty="0" err="1"/>
                        <a:t>dL</a:t>
                      </a:r>
                      <a:endParaRPr lang="es-ES" dirty="0"/>
                    </a:p>
                  </a:txBody>
                  <a:tcPr/>
                </a:tc>
                <a:tc>
                  <a:txBody>
                    <a:bodyPr/>
                    <a:lstStyle/>
                    <a:p>
                      <a:r>
                        <a:rPr lang="es-ES" dirty="0" err="1"/>
                        <a:t>Excess</a:t>
                      </a:r>
                      <a:r>
                        <a:rPr lang="es-ES" dirty="0"/>
                        <a:t> </a:t>
                      </a:r>
                      <a:r>
                        <a:rPr lang="es-ES" dirty="0" err="1"/>
                        <a:t>Loss</a:t>
                      </a:r>
                      <a:r>
                        <a:rPr lang="es-ES" dirty="0"/>
                        <a:t> [dB]</a:t>
                      </a:r>
                    </a:p>
                  </a:txBody>
                  <a:tcPr/>
                </a:tc>
                <a:tc>
                  <a:txBody>
                    <a:bodyPr/>
                    <a:lstStyle/>
                    <a:p>
                      <a:r>
                        <a:rPr lang="en-US" sz="1800" dirty="0"/>
                        <a:t>Ratio over outputs </a:t>
                      </a:r>
                      <a:endParaRPr lang="es-ES" dirty="0"/>
                    </a:p>
                  </a:txBody>
                  <a:tcPr/>
                </a:tc>
                <a:tc>
                  <a:txBody>
                    <a:bodyPr/>
                    <a:lstStyle/>
                    <a:p>
                      <a:r>
                        <a:rPr lang="es-ES" dirty="0" err="1"/>
                        <a:t>Plot</a:t>
                      </a:r>
                      <a:endParaRPr lang="es-ES" dirty="0"/>
                    </a:p>
                  </a:txBody>
                  <a:tcPr/>
                </a:tc>
                <a:extLst>
                  <a:ext uri="{0D108BD9-81ED-4DB2-BD59-A6C34878D82A}">
                    <a16:rowId xmlns:a16="http://schemas.microsoft.com/office/drawing/2014/main" val="3244740144"/>
                  </a:ext>
                </a:extLst>
              </a:tr>
              <a:tr h="370840">
                <a:tc>
                  <a:txBody>
                    <a:bodyPr/>
                    <a:lstStyle/>
                    <a:p>
                      <a:r>
                        <a:rPr lang="es-ES" dirty="0"/>
                        <a:t>1</a:t>
                      </a:r>
                    </a:p>
                  </a:txBody>
                  <a:tcPr/>
                </a:tc>
                <a:tc>
                  <a:txBody>
                    <a:bodyPr/>
                    <a:lstStyle/>
                    <a:p>
                      <a:r>
                        <a:rPr lang="es-ES" dirty="0"/>
                        <a:t>0.05</a:t>
                      </a:r>
                    </a:p>
                  </a:txBody>
                  <a:tcPr/>
                </a:tc>
                <a:tc>
                  <a:txBody>
                    <a:bodyPr/>
                    <a:lstStyle/>
                    <a:p>
                      <a:r>
                        <a:rPr lang="es-ES" dirty="0"/>
                        <a:t>-0.5</a:t>
                      </a:r>
                    </a:p>
                  </a:txBody>
                  <a:tcPr/>
                </a:tc>
                <a:tc>
                  <a:txBody>
                    <a:bodyPr/>
                    <a:lstStyle/>
                    <a:p>
                      <a:r>
                        <a:rPr lang="es-ES" b="0" dirty="0">
                          <a:solidFill>
                            <a:schemeClr val="dk1"/>
                          </a:solidFill>
                          <a:effectLst/>
                        </a:rPr>
                        <a:t>0.3867</a:t>
                      </a:r>
                      <a:endParaRPr lang="es-ES" dirty="0"/>
                    </a:p>
                  </a:txBody>
                  <a:tcPr/>
                </a:tc>
                <a:tc>
                  <a:txBody>
                    <a:bodyPr/>
                    <a:lstStyle/>
                    <a:p>
                      <a:r>
                        <a:rPr lang="es-ES" b="0" dirty="0">
                          <a:solidFill>
                            <a:schemeClr val="dk1"/>
                          </a:solidFill>
                          <a:effectLst/>
                        </a:rPr>
                        <a:t>['0.5151', '0.4849']</a:t>
                      </a:r>
                      <a:endParaRPr lang="es-ES" dirty="0"/>
                    </a:p>
                  </a:txBody>
                  <a:tcPr/>
                </a:tc>
                <a:tc>
                  <a:txBody>
                    <a:bodyPr/>
                    <a:lstStyle/>
                    <a:p>
                      <a:r>
                        <a:rPr lang="es-ES" dirty="0"/>
                        <a:t>1)</a:t>
                      </a:r>
                    </a:p>
                  </a:txBody>
                  <a:tcPr/>
                </a:tc>
                <a:extLst>
                  <a:ext uri="{0D108BD9-81ED-4DB2-BD59-A6C34878D82A}">
                    <a16:rowId xmlns:a16="http://schemas.microsoft.com/office/drawing/2014/main" val="4275359258"/>
                  </a:ext>
                </a:extLst>
              </a:tr>
              <a:tr h="370840">
                <a:tc>
                  <a:txBody>
                    <a:bodyPr/>
                    <a:lstStyle/>
                    <a:p>
                      <a:r>
                        <a:rPr lang="es-ES" dirty="0"/>
                        <a:t>1+1.2</a:t>
                      </a:r>
                    </a:p>
                  </a:txBody>
                  <a:tcPr/>
                </a:tc>
                <a:tc>
                  <a:txBody>
                    <a:bodyPr/>
                    <a:lstStyle/>
                    <a:p>
                      <a:r>
                        <a:rPr lang="es-ES" dirty="0"/>
                        <a:t>0.05</a:t>
                      </a:r>
                    </a:p>
                  </a:txBody>
                  <a:tcPr/>
                </a:tc>
                <a:tc>
                  <a:txBody>
                    <a:bodyPr/>
                    <a:lstStyle/>
                    <a:p>
                      <a:r>
                        <a:rPr lang="es-ES" dirty="0"/>
                        <a:t>-0.5</a:t>
                      </a:r>
                    </a:p>
                  </a:txBody>
                  <a:tcPr/>
                </a:tc>
                <a:tc>
                  <a:txBody>
                    <a:bodyPr/>
                    <a:lstStyle/>
                    <a:p>
                      <a:r>
                        <a:rPr lang="es-ES" b="0" dirty="0">
                          <a:solidFill>
                            <a:schemeClr val="dk1"/>
                          </a:solidFill>
                          <a:effectLst/>
                        </a:rPr>
                        <a:t>0.0018</a:t>
                      </a:r>
                      <a:endParaRPr lang="es-ES" dirty="0"/>
                    </a:p>
                  </a:txBody>
                  <a:tcPr/>
                </a:tc>
                <a:tc>
                  <a:txBody>
                    <a:bodyPr/>
                    <a:lstStyle/>
                    <a:p>
                      <a:r>
                        <a:rPr lang="es-ES" b="0" dirty="0">
                          <a:solidFill>
                            <a:schemeClr val="dk1"/>
                          </a:solidFill>
                          <a:effectLst/>
                        </a:rPr>
                        <a:t>['0.5076', '0.4924']</a:t>
                      </a:r>
                      <a:endParaRPr lang="es-ES" dirty="0"/>
                    </a:p>
                  </a:txBody>
                  <a:tcPr/>
                </a:tc>
                <a:tc>
                  <a:txBody>
                    <a:bodyPr/>
                    <a:lstStyle/>
                    <a:p>
                      <a:r>
                        <a:rPr lang="es-ES" dirty="0"/>
                        <a:t>2)</a:t>
                      </a:r>
                    </a:p>
                  </a:txBody>
                  <a:tcPr/>
                </a:tc>
                <a:extLst>
                  <a:ext uri="{0D108BD9-81ED-4DB2-BD59-A6C34878D82A}">
                    <a16:rowId xmlns:a16="http://schemas.microsoft.com/office/drawing/2014/main" val="1554956132"/>
                  </a:ext>
                </a:extLst>
              </a:tr>
              <a:tr h="370840">
                <a:tc>
                  <a:txBody>
                    <a:bodyPr/>
                    <a:lstStyle/>
                    <a:p>
                      <a:r>
                        <a:rPr lang="es-ES" dirty="0"/>
                        <a:t>1+1.5</a:t>
                      </a:r>
                    </a:p>
                  </a:txBody>
                  <a:tcPr/>
                </a:tc>
                <a:tc>
                  <a:txBody>
                    <a:bodyPr/>
                    <a:lstStyle/>
                    <a:p>
                      <a:r>
                        <a:rPr lang="es-ES" dirty="0"/>
                        <a:t>0.05</a:t>
                      </a:r>
                    </a:p>
                  </a:txBody>
                  <a:tcPr/>
                </a:tc>
                <a:tc>
                  <a:txBody>
                    <a:bodyPr/>
                    <a:lstStyle/>
                    <a:p>
                      <a:r>
                        <a:rPr lang="es-ES" dirty="0"/>
                        <a:t>-0.5</a:t>
                      </a:r>
                    </a:p>
                  </a:txBody>
                  <a:tcPr/>
                </a:tc>
                <a:tc>
                  <a:txBody>
                    <a:bodyPr/>
                    <a:lstStyle/>
                    <a:p>
                      <a:r>
                        <a:rPr lang="es-ES" b="0" i="0" dirty="0">
                          <a:solidFill>
                            <a:schemeClr val="dk1"/>
                          </a:solidFill>
                          <a:effectLst/>
                          <a:latin typeface="+mn-lt"/>
                          <a:ea typeface="+mn-ea"/>
                          <a:cs typeface="+mn-cs"/>
                        </a:rPr>
                        <a:t>-0.0114</a:t>
                      </a:r>
                      <a:endParaRPr lang="es-ES" dirty="0"/>
                    </a:p>
                  </a:txBody>
                  <a:tcPr/>
                </a:tc>
                <a:tc>
                  <a:txBody>
                    <a:bodyPr/>
                    <a:lstStyle/>
                    <a:p>
                      <a:r>
                        <a:rPr lang="es-ES" b="0" dirty="0">
                          <a:solidFill>
                            <a:schemeClr val="dk1"/>
                          </a:solidFill>
                          <a:effectLst/>
                        </a:rPr>
                        <a:t>['0.5071', '0.4929']</a:t>
                      </a:r>
                      <a:endParaRPr lang="es-ES" dirty="0"/>
                    </a:p>
                  </a:txBody>
                  <a:tcPr/>
                </a:tc>
                <a:tc>
                  <a:txBody>
                    <a:bodyPr/>
                    <a:lstStyle/>
                    <a:p>
                      <a:r>
                        <a:rPr lang="es-ES" dirty="0"/>
                        <a:t>3)</a:t>
                      </a:r>
                    </a:p>
                  </a:txBody>
                  <a:tcPr/>
                </a:tc>
                <a:extLst>
                  <a:ext uri="{0D108BD9-81ED-4DB2-BD59-A6C34878D82A}">
                    <a16:rowId xmlns:a16="http://schemas.microsoft.com/office/drawing/2014/main" val="1643055630"/>
                  </a:ext>
                </a:extLst>
              </a:tr>
              <a:tr h="370840">
                <a:tc>
                  <a:txBody>
                    <a:bodyPr/>
                    <a:lstStyle/>
                    <a:p>
                      <a:r>
                        <a:rPr lang="es-ES" dirty="0"/>
                        <a:t>1+1.7</a:t>
                      </a:r>
                    </a:p>
                  </a:txBody>
                  <a:tcPr/>
                </a:tc>
                <a:tc>
                  <a:txBody>
                    <a:bodyPr/>
                    <a:lstStyle/>
                    <a:p>
                      <a:r>
                        <a:rPr lang="es-ES" dirty="0"/>
                        <a:t>0.05</a:t>
                      </a:r>
                    </a:p>
                  </a:txBody>
                  <a:tcPr/>
                </a:tc>
                <a:tc>
                  <a:txBody>
                    <a:bodyPr/>
                    <a:lstStyle/>
                    <a:p>
                      <a:r>
                        <a:rPr lang="es-ES" dirty="0"/>
                        <a:t>-0.5</a:t>
                      </a:r>
                    </a:p>
                  </a:txBody>
                  <a:tcPr/>
                </a:tc>
                <a:tc>
                  <a:txBody>
                    <a:bodyPr/>
                    <a:lstStyle/>
                    <a:p>
                      <a:r>
                        <a:rPr lang="es-ES" b="0" dirty="0">
                          <a:solidFill>
                            <a:schemeClr val="dk1"/>
                          </a:solidFill>
                          <a:effectLst/>
                        </a:rPr>
                        <a:t>-</a:t>
                      </a:r>
                      <a:r>
                        <a:rPr lang="es-ES" b="0" i="0" dirty="0">
                          <a:solidFill>
                            <a:schemeClr val="dk1"/>
                          </a:solidFill>
                          <a:effectLst/>
                          <a:latin typeface="+mn-lt"/>
                          <a:ea typeface="+mn-ea"/>
                          <a:cs typeface="+mn-cs"/>
                        </a:rPr>
                        <a:t>0.0258</a:t>
                      </a:r>
                      <a:endParaRPr lang="es-ES" dirty="0"/>
                    </a:p>
                  </a:txBody>
                  <a:tcPr/>
                </a:tc>
                <a:tc>
                  <a:txBody>
                    <a:bodyPr/>
                    <a:lstStyle/>
                    <a:p>
                      <a:r>
                        <a:rPr lang="es-ES" b="0" dirty="0">
                          <a:solidFill>
                            <a:schemeClr val="dk1"/>
                          </a:solidFill>
                          <a:effectLst/>
                        </a:rPr>
                        <a:t>['0.5069', '0.4931']</a:t>
                      </a:r>
                      <a:endParaRPr lang="es-ES" dirty="0"/>
                    </a:p>
                  </a:txBody>
                  <a:tcPr/>
                </a:tc>
                <a:tc>
                  <a:txBody>
                    <a:bodyPr/>
                    <a:lstStyle/>
                    <a:p>
                      <a:r>
                        <a:rPr lang="es-ES" dirty="0"/>
                        <a:t>4)</a:t>
                      </a:r>
                    </a:p>
                  </a:txBody>
                  <a:tcPr/>
                </a:tc>
                <a:extLst>
                  <a:ext uri="{0D108BD9-81ED-4DB2-BD59-A6C34878D82A}">
                    <a16:rowId xmlns:a16="http://schemas.microsoft.com/office/drawing/2014/main" val="758287209"/>
                  </a:ext>
                </a:extLst>
              </a:tr>
            </a:tbl>
          </a:graphicData>
        </a:graphic>
      </p:graphicFrame>
      <p:pic>
        <p:nvPicPr>
          <p:cNvPr id="7" name="Imagen 6">
            <a:extLst>
              <a:ext uri="{FF2B5EF4-FFF2-40B4-BE49-F238E27FC236}">
                <a16:creationId xmlns:a16="http://schemas.microsoft.com/office/drawing/2014/main" id="{F30F9133-CE9A-36B8-88D7-3244E09EC315}"/>
              </a:ext>
            </a:extLst>
          </p:cNvPr>
          <p:cNvPicPr>
            <a:picLocks noChangeAspect="1"/>
          </p:cNvPicPr>
          <p:nvPr/>
        </p:nvPicPr>
        <p:blipFill>
          <a:blip r:embed="rId2"/>
          <a:stretch>
            <a:fillRect/>
          </a:stretch>
        </p:blipFill>
        <p:spPr>
          <a:xfrm>
            <a:off x="8037183" y="4892040"/>
            <a:ext cx="3581400" cy="1485900"/>
          </a:xfrm>
          <a:prstGeom prst="rect">
            <a:avLst/>
          </a:prstGeom>
        </p:spPr>
      </p:pic>
      <p:pic>
        <p:nvPicPr>
          <p:cNvPr id="8" name="Imagen 7">
            <a:extLst>
              <a:ext uri="{FF2B5EF4-FFF2-40B4-BE49-F238E27FC236}">
                <a16:creationId xmlns:a16="http://schemas.microsoft.com/office/drawing/2014/main" id="{88B2698F-166C-53D9-A97D-8D209EC71669}"/>
              </a:ext>
            </a:extLst>
          </p:cNvPr>
          <p:cNvPicPr>
            <a:picLocks noChangeAspect="1"/>
          </p:cNvPicPr>
          <p:nvPr/>
        </p:nvPicPr>
        <p:blipFill>
          <a:blip r:embed="rId3"/>
          <a:stretch>
            <a:fillRect/>
          </a:stretch>
        </p:blipFill>
        <p:spPr>
          <a:xfrm>
            <a:off x="4481356" y="4902650"/>
            <a:ext cx="3555827" cy="1475290"/>
          </a:xfrm>
          <a:prstGeom prst="rect">
            <a:avLst/>
          </a:prstGeom>
        </p:spPr>
      </p:pic>
      <p:pic>
        <p:nvPicPr>
          <p:cNvPr id="9" name="Imagen 8">
            <a:extLst>
              <a:ext uri="{FF2B5EF4-FFF2-40B4-BE49-F238E27FC236}">
                <a16:creationId xmlns:a16="http://schemas.microsoft.com/office/drawing/2014/main" id="{EE955E29-5239-60D1-645C-384B6A8B248B}"/>
              </a:ext>
            </a:extLst>
          </p:cNvPr>
          <p:cNvPicPr>
            <a:picLocks noChangeAspect="1"/>
          </p:cNvPicPr>
          <p:nvPr/>
        </p:nvPicPr>
        <p:blipFill>
          <a:blip r:embed="rId4"/>
          <a:stretch>
            <a:fillRect/>
          </a:stretch>
        </p:blipFill>
        <p:spPr>
          <a:xfrm>
            <a:off x="8033795" y="3322697"/>
            <a:ext cx="3548862" cy="1472400"/>
          </a:xfrm>
          <a:prstGeom prst="rect">
            <a:avLst/>
          </a:prstGeom>
        </p:spPr>
      </p:pic>
      <p:pic>
        <p:nvPicPr>
          <p:cNvPr id="10" name="Imagen 9">
            <a:extLst>
              <a:ext uri="{FF2B5EF4-FFF2-40B4-BE49-F238E27FC236}">
                <a16:creationId xmlns:a16="http://schemas.microsoft.com/office/drawing/2014/main" id="{57FED3B4-D974-7E7F-20DB-63307CED0F1B}"/>
              </a:ext>
            </a:extLst>
          </p:cNvPr>
          <p:cNvPicPr>
            <a:picLocks noChangeAspect="1"/>
          </p:cNvPicPr>
          <p:nvPr/>
        </p:nvPicPr>
        <p:blipFill>
          <a:blip r:embed="rId5"/>
          <a:stretch>
            <a:fillRect/>
          </a:stretch>
        </p:blipFill>
        <p:spPr>
          <a:xfrm>
            <a:off x="4465923" y="3322697"/>
            <a:ext cx="3548862" cy="1472400"/>
          </a:xfrm>
          <a:prstGeom prst="rect">
            <a:avLst/>
          </a:prstGeom>
        </p:spPr>
      </p:pic>
      <p:sp>
        <p:nvSpPr>
          <p:cNvPr id="11" name="CuadroTexto 10">
            <a:extLst>
              <a:ext uri="{FF2B5EF4-FFF2-40B4-BE49-F238E27FC236}">
                <a16:creationId xmlns:a16="http://schemas.microsoft.com/office/drawing/2014/main" id="{D620D0B3-138B-87F5-E022-43C5E0A65B94}"/>
              </a:ext>
            </a:extLst>
          </p:cNvPr>
          <p:cNvSpPr txBox="1"/>
          <p:nvPr/>
        </p:nvSpPr>
        <p:spPr>
          <a:xfrm>
            <a:off x="5029200" y="3124200"/>
            <a:ext cx="4779026" cy="369332"/>
          </a:xfrm>
          <a:prstGeom prst="rect">
            <a:avLst/>
          </a:prstGeom>
          <a:noFill/>
        </p:spPr>
        <p:txBody>
          <a:bodyPr wrap="square" rtlCol="0">
            <a:spAutoFit/>
          </a:bodyPr>
          <a:lstStyle/>
          <a:p>
            <a:r>
              <a:rPr lang="es-ES" dirty="0"/>
              <a:t>1).                                                            2).  </a:t>
            </a:r>
          </a:p>
        </p:txBody>
      </p:sp>
      <p:sp>
        <p:nvSpPr>
          <p:cNvPr id="14" name="CuadroTexto 13">
            <a:extLst>
              <a:ext uri="{FF2B5EF4-FFF2-40B4-BE49-F238E27FC236}">
                <a16:creationId xmlns:a16="http://schemas.microsoft.com/office/drawing/2014/main" id="{FBA6DAA0-FD95-2F0C-4FE9-7F59420FB61E}"/>
              </a:ext>
            </a:extLst>
          </p:cNvPr>
          <p:cNvSpPr txBox="1"/>
          <p:nvPr/>
        </p:nvSpPr>
        <p:spPr>
          <a:xfrm>
            <a:off x="5029200" y="4680642"/>
            <a:ext cx="6128794" cy="369332"/>
          </a:xfrm>
          <a:prstGeom prst="rect">
            <a:avLst/>
          </a:prstGeom>
          <a:noFill/>
        </p:spPr>
        <p:txBody>
          <a:bodyPr wrap="square">
            <a:spAutoFit/>
          </a:bodyPr>
          <a:lstStyle/>
          <a:p>
            <a:r>
              <a:rPr lang="es-ES" dirty="0"/>
              <a:t>3).                                                            4).  </a:t>
            </a:r>
          </a:p>
        </p:txBody>
      </p:sp>
      <p:sp>
        <p:nvSpPr>
          <p:cNvPr id="15" name="CuadroTexto 14">
            <a:extLst>
              <a:ext uri="{FF2B5EF4-FFF2-40B4-BE49-F238E27FC236}">
                <a16:creationId xmlns:a16="http://schemas.microsoft.com/office/drawing/2014/main" id="{C8F8AD65-10E8-4A17-4A0B-B5BC9B1AD116}"/>
              </a:ext>
            </a:extLst>
          </p:cNvPr>
          <p:cNvSpPr txBox="1"/>
          <p:nvPr/>
        </p:nvSpPr>
        <p:spPr>
          <a:xfrm>
            <a:off x="609343" y="3429000"/>
            <a:ext cx="3733800" cy="2123658"/>
          </a:xfrm>
          <a:prstGeom prst="rect">
            <a:avLst/>
          </a:prstGeom>
          <a:noFill/>
        </p:spPr>
        <p:txBody>
          <a:bodyPr wrap="square" rtlCol="0">
            <a:spAutoFit/>
          </a:bodyPr>
          <a:lstStyle/>
          <a:p>
            <a:pPr algn="just"/>
            <a:r>
              <a:rPr lang="es-ES" sz="1200" dirty="0"/>
              <a:t>Cuando el ancho de las guías I/O es 1um con la geometría optimizada anteriormente, las pérdidas siguen siendo algo elevadas (0.42 dB). Esto indica un desajuste modal entre la guía de entrada y la región multimodo. Observamos que con aumentar el ancho de las guías I/O 1.2um, las pérdidas mejoran drásticamente, corrigiendo el desajuste modal que había. De todas formas, hay que tener en cuenta que con esta anchura de guías de entrada puede haber problemas de acoplo entre ellas ya que están muy juntas (podría acoplarse potencia entre ellas y esto causaría problemas). </a:t>
            </a:r>
          </a:p>
        </p:txBody>
      </p:sp>
    </p:spTree>
    <p:extLst>
      <p:ext uri="{BB962C8B-B14F-4D97-AF65-F5344CB8AC3E}">
        <p14:creationId xmlns:p14="http://schemas.microsoft.com/office/powerpoint/2010/main" val="937386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092593-5486-17BF-064D-0236495E48F7}"/>
              </a:ext>
            </a:extLst>
          </p:cNvPr>
          <p:cNvSpPr>
            <a:spLocks noGrp="1"/>
          </p:cNvSpPr>
          <p:nvPr>
            <p:ph type="title"/>
          </p:nvPr>
        </p:nvSpPr>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5</a:t>
            </a:r>
          </a:p>
        </p:txBody>
      </p:sp>
      <p:sp>
        <p:nvSpPr>
          <p:cNvPr id="3" name="Marcador de texto 2">
            <a:extLst>
              <a:ext uri="{FF2B5EF4-FFF2-40B4-BE49-F238E27FC236}">
                <a16:creationId xmlns:a16="http://schemas.microsoft.com/office/drawing/2014/main" id="{32335EBC-8DEA-D5B6-2C32-A6D81066EAF1}"/>
              </a:ext>
            </a:extLst>
          </p:cNvPr>
          <p:cNvSpPr>
            <a:spLocks noGrp="1"/>
          </p:cNvSpPr>
          <p:nvPr>
            <p:ph type="body" idx="1"/>
          </p:nvPr>
        </p:nvSpPr>
        <p:spPr>
          <a:xfrm>
            <a:off x="590550" y="728943"/>
            <a:ext cx="10972800" cy="369332"/>
          </a:xfrm>
        </p:spPr>
        <p:txBody>
          <a:bodyPr/>
          <a:lstStyle/>
          <a:p>
            <a:pPr algn="just"/>
            <a:r>
              <a:rPr lang="es-ES" sz="1200" dirty="0"/>
              <a:t>En primer lugar, se ha hecho un barrido con la longitud total del MMI para ver justo donde se forman 4 autoimágenes en la salida. De esta forma, se ha escogido una longitud total de </a:t>
            </a:r>
            <a:r>
              <a:rPr lang="es-ES" sz="1200" b="1" dirty="0"/>
              <a:t>0.55*</a:t>
            </a:r>
            <a:r>
              <a:rPr lang="es-ES" sz="1200" b="1" dirty="0" err="1"/>
              <a:t>L_pi</a:t>
            </a:r>
            <a:r>
              <a:rPr lang="es-ES" sz="1200" b="1" dirty="0"/>
              <a:t> </a:t>
            </a:r>
            <a:r>
              <a:rPr lang="es-ES" sz="1200" dirty="0"/>
              <a:t>ya que es justo donde vemos que se forman 4 las autoimágenes equiespaciadas. El siguiente paso será alinear las guías de salida a estas 4 autoimágenes.</a:t>
            </a:r>
          </a:p>
        </p:txBody>
      </p:sp>
      <p:sp>
        <p:nvSpPr>
          <p:cNvPr id="4" name="Marcador de pie de página 3">
            <a:extLst>
              <a:ext uri="{FF2B5EF4-FFF2-40B4-BE49-F238E27FC236}">
                <a16:creationId xmlns:a16="http://schemas.microsoft.com/office/drawing/2014/main" id="{C3E2C872-83B7-E8D2-35B1-B9727BB8FBF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A392C166-3DE5-272D-FADB-0B6DACCFCF90}"/>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7" name="CuadroTexto 6">
            <a:extLst>
              <a:ext uri="{FF2B5EF4-FFF2-40B4-BE49-F238E27FC236}">
                <a16:creationId xmlns:a16="http://schemas.microsoft.com/office/drawing/2014/main" id="{6481106C-4208-C882-CAA4-3B37D827B2EE}"/>
              </a:ext>
            </a:extLst>
          </p:cNvPr>
          <p:cNvSpPr txBox="1"/>
          <p:nvPr/>
        </p:nvSpPr>
        <p:spPr>
          <a:xfrm>
            <a:off x="590550" y="1442300"/>
            <a:ext cx="6130088" cy="642163"/>
          </a:xfrm>
          <a:prstGeom prst="rect">
            <a:avLst/>
          </a:prstGeom>
          <a:noFill/>
        </p:spPr>
        <p:txBody>
          <a:bodyPr wrap="square">
            <a:spAutoFit/>
          </a:bodyPr>
          <a:lstStyle/>
          <a:p>
            <a:pPr>
              <a:lnSpc>
                <a:spcPts val="1350"/>
              </a:lnSpc>
              <a:buNone/>
            </a:pPr>
            <a:r>
              <a:rPr lang="es-ES" sz="1200" b="0" dirty="0" err="1">
                <a:solidFill>
                  <a:srgbClr val="C586C0"/>
                </a:solidFill>
                <a:effectLst/>
                <a:latin typeface="Menlo" panose="020B0609030804020204" pitchFamily="49" charset="0"/>
              </a:rPr>
              <a:t>for</a:t>
            </a:r>
            <a:r>
              <a:rPr lang="es-ES" sz="1200" b="0" dirty="0">
                <a:solidFill>
                  <a:srgbClr val="CCCCCC"/>
                </a:solidFill>
                <a:effectLst/>
                <a:latin typeface="Menlo" panose="020B0609030804020204" pitchFamily="49" charset="0"/>
              </a:rPr>
              <a:t> </a:t>
            </a:r>
            <a:r>
              <a:rPr lang="es-ES" sz="1200" b="0" dirty="0">
                <a:solidFill>
                  <a:srgbClr val="9CDCFE"/>
                </a:solidFill>
                <a:effectLst/>
                <a:latin typeface="Menlo" panose="020B0609030804020204" pitchFamily="49" charset="0"/>
              </a:rPr>
              <a:t>f</a:t>
            </a:r>
            <a:r>
              <a:rPr lang="es-ES" sz="1200" b="0" dirty="0">
                <a:solidFill>
                  <a:srgbClr val="CCCCCC"/>
                </a:solidFill>
                <a:effectLst/>
                <a:latin typeface="Menlo" panose="020B0609030804020204" pitchFamily="49" charset="0"/>
              </a:rPr>
              <a:t> </a:t>
            </a:r>
            <a:r>
              <a:rPr lang="es-ES" sz="1200" b="0" dirty="0">
                <a:solidFill>
                  <a:srgbClr val="C586C0"/>
                </a:solidFill>
                <a:effectLst/>
                <a:latin typeface="Menlo" panose="020B0609030804020204" pitchFamily="49" charset="0"/>
              </a:rPr>
              <a:t>in</a:t>
            </a:r>
            <a:r>
              <a:rPr lang="es-ES" sz="1200" b="0" dirty="0">
                <a:solidFill>
                  <a:srgbClr val="CCCCCC"/>
                </a:solidFill>
                <a:effectLst/>
                <a:latin typeface="Menlo" panose="020B0609030804020204" pitchFamily="49" charset="0"/>
              </a:rPr>
              <a:t> [</a:t>
            </a:r>
            <a:r>
              <a:rPr lang="es-ES" sz="1200" b="0" dirty="0">
                <a:solidFill>
                  <a:srgbClr val="B5CEA8"/>
                </a:solidFill>
                <a:effectLst/>
                <a:latin typeface="Menlo" panose="020B0609030804020204" pitchFamily="49" charset="0"/>
              </a:rPr>
              <a:t>0.40</a:t>
            </a:r>
            <a:r>
              <a:rPr lang="es-ES" sz="1200" b="0" dirty="0">
                <a:solidFill>
                  <a:srgbClr val="CCCCCC"/>
                </a:solidFill>
                <a:effectLst/>
                <a:latin typeface="Menlo" panose="020B0609030804020204" pitchFamily="49" charset="0"/>
              </a:rPr>
              <a:t>, </a:t>
            </a:r>
            <a:r>
              <a:rPr lang="es-ES" sz="1200" b="0" dirty="0">
                <a:solidFill>
                  <a:srgbClr val="B5CEA8"/>
                </a:solidFill>
                <a:effectLst/>
                <a:latin typeface="Menlo" panose="020B0609030804020204" pitchFamily="49" charset="0"/>
              </a:rPr>
              <a:t>0.45</a:t>
            </a:r>
            <a:r>
              <a:rPr lang="es-ES" sz="1200" b="0" dirty="0">
                <a:solidFill>
                  <a:srgbClr val="CCCCCC"/>
                </a:solidFill>
                <a:effectLst/>
                <a:latin typeface="Menlo" panose="020B0609030804020204" pitchFamily="49" charset="0"/>
              </a:rPr>
              <a:t>, </a:t>
            </a:r>
            <a:r>
              <a:rPr lang="es-ES" sz="1200" b="0" dirty="0">
                <a:solidFill>
                  <a:srgbClr val="B5CEA8"/>
                </a:solidFill>
                <a:effectLst/>
                <a:latin typeface="Menlo" panose="020B0609030804020204" pitchFamily="49" charset="0"/>
              </a:rPr>
              <a:t>0.50</a:t>
            </a:r>
            <a:r>
              <a:rPr lang="es-ES" sz="1200" b="0" dirty="0">
                <a:solidFill>
                  <a:srgbClr val="CCCCCC"/>
                </a:solidFill>
                <a:effectLst/>
                <a:latin typeface="Menlo" panose="020B0609030804020204" pitchFamily="49" charset="0"/>
              </a:rPr>
              <a:t>, </a:t>
            </a:r>
            <a:r>
              <a:rPr lang="es-ES" sz="1200" b="0" dirty="0">
                <a:solidFill>
                  <a:srgbClr val="B5CEA8"/>
                </a:solidFill>
                <a:effectLst/>
                <a:latin typeface="Menlo" panose="020B0609030804020204" pitchFamily="49" charset="0"/>
              </a:rPr>
              <a:t>0.55</a:t>
            </a:r>
            <a:r>
              <a:rPr lang="es-ES" sz="1200" b="0" dirty="0">
                <a:solidFill>
                  <a:srgbClr val="CCCCCC"/>
                </a:solidFill>
                <a:effectLst/>
                <a:latin typeface="Menlo" panose="020B0609030804020204" pitchFamily="49" charset="0"/>
              </a:rPr>
              <a:t>, </a:t>
            </a:r>
            <a:r>
              <a:rPr lang="es-ES" sz="1200" b="0" dirty="0">
                <a:solidFill>
                  <a:srgbClr val="B5CEA8"/>
                </a:solidFill>
                <a:effectLst/>
                <a:latin typeface="Menlo" panose="020B0609030804020204" pitchFamily="49" charset="0"/>
              </a:rPr>
              <a:t>0.60</a:t>
            </a:r>
            <a:r>
              <a:rPr lang="es-ES" sz="1200" b="0" dirty="0">
                <a:solidFill>
                  <a:srgbClr val="CCCCCC"/>
                </a:solidFill>
                <a:effectLst/>
                <a:latin typeface="Menlo" panose="020B0609030804020204" pitchFamily="49" charset="0"/>
              </a:rPr>
              <a:t>]:</a:t>
            </a:r>
          </a:p>
          <a:p>
            <a:pPr>
              <a:lnSpc>
                <a:spcPts val="1350"/>
              </a:lnSpc>
              <a:buNone/>
            </a:pPr>
            <a:r>
              <a:rPr lang="es-ES" sz="1200" b="0" dirty="0">
                <a:solidFill>
                  <a:srgbClr val="9CDCFE"/>
                </a:solidFill>
                <a:effectLst/>
                <a:latin typeface="Menlo" panose="020B0609030804020204" pitchFamily="49" charset="0"/>
              </a:rPr>
              <a:t>	</a:t>
            </a:r>
            <a:r>
              <a:rPr lang="es-ES" sz="1200" b="0" dirty="0" err="1">
                <a:solidFill>
                  <a:srgbClr val="9CDCFE"/>
                </a:solidFill>
                <a:effectLst/>
                <a:latin typeface="Menlo" panose="020B0609030804020204" pitchFamily="49" charset="0"/>
              </a:rPr>
              <a:t>m</a:t>
            </a:r>
            <a:r>
              <a:rPr lang="es-ES" sz="1200" b="0" dirty="0" err="1">
                <a:solidFill>
                  <a:srgbClr val="CCCCCC"/>
                </a:solidFill>
                <a:effectLst/>
                <a:latin typeface="Menlo" panose="020B0609030804020204" pitchFamily="49" charset="0"/>
              </a:rPr>
              <a:t>.</a:t>
            </a:r>
            <a:r>
              <a:rPr lang="es-ES" sz="1200" b="0" dirty="0" err="1">
                <a:solidFill>
                  <a:srgbClr val="9CDCFE"/>
                </a:solidFill>
                <a:effectLst/>
                <a:latin typeface="Menlo" panose="020B0609030804020204" pitchFamily="49" charset="0"/>
              </a:rPr>
              <a:t>L_MMI</a:t>
            </a:r>
            <a:r>
              <a:rPr lang="es-ES" sz="1200" b="0" dirty="0">
                <a:solidFill>
                  <a:srgbClr val="CCCCCC"/>
                </a:solidFill>
                <a:effectLst/>
                <a:latin typeface="Menlo" panose="020B0609030804020204" pitchFamily="49" charset="0"/>
              </a:rPr>
              <a:t> </a:t>
            </a:r>
            <a:r>
              <a:rPr lang="es-ES" sz="1200" b="0" dirty="0">
                <a:solidFill>
                  <a:srgbClr val="D4D4D4"/>
                </a:solidFill>
                <a:effectLst/>
                <a:latin typeface="Menlo" panose="020B0609030804020204" pitchFamily="49" charset="0"/>
              </a:rPr>
              <a:t>=</a:t>
            </a:r>
            <a:r>
              <a:rPr lang="es-ES" sz="1200" b="0" dirty="0">
                <a:solidFill>
                  <a:srgbClr val="CCCCCC"/>
                </a:solidFill>
                <a:effectLst/>
                <a:latin typeface="Menlo" panose="020B0609030804020204" pitchFamily="49" charset="0"/>
              </a:rPr>
              <a:t> </a:t>
            </a:r>
            <a:r>
              <a:rPr lang="es-ES" sz="1200" b="0" dirty="0">
                <a:solidFill>
                  <a:srgbClr val="9CDCFE"/>
                </a:solidFill>
                <a:effectLst/>
                <a:latin typeface="Menlo" panose="020B0609030804020204" pitchFamily="49" charset="0"/>
              </a:rPr>
              <a:t>f</a:t>
            </a:r>
            <a:r>
              <a:rPr lang="es-ES" sz="1200" b="0" dirty="0">
                <a:solidFill>
                  <a:srgbClr val="CCCCCC"/>
                </a:solidFill>
                <a:effectLst/>
                <a:latin typeface="Menlo" panose="020B0609030804020204" pitchFamily="49" charset="0"/>
              </a:rPr>
              <a:t> </a:t>
            </a:r>
            <a:r>
              <a:rPr lang="es-ES" sz="1200" b="0" dirty="0">
                <a:solidFill>
                  <a:srgbClr val="D4D4D4"/>
                </a:solidFill>
                <a:effectLst/>
                <a:latin typeface="Menlo" panose="020B0609030804020204" pitchFamily="49" charset="0"/>
              </a:rPr>
              <a:t>*</a:t>
            </a:r>
            <a:r>
              <a:rPr lang="es-ES" sz="1200" b="0" dirty="0">
                <a:solidFill>
                  <a:srgbClr val="CCCCCC"/>
                </a:solidFill>
                <a:effectLst/>
                <a:latin typeface="Menlo" panose="020B0609030804020204" pitchFamily="49" charset="0"/>
              </a:rPr>
              <a:t> </a:t>
            </a:r>
            <a:r>
              <a:rPr lang="es-ES" sz="1200" b="0" dirty="0" err="1">
                <a:solidFill>
                  <a:srgbClr val="9CDCFE"/>
                </a:solidFill>
                <a:effectLst/>
                <a:latin typeface="Menlo" panose="020B0609030804020204" pitchFamily="49" charset="0"/>
              </a:rPr>
              <a:t>L_pi</a:t>
            </a:r>
            <a:endParaRPr lang="es-ES" sz="1200" b="0" dirty="0">
              <a:solidFill>
                <a:srgbClr val="CCCCCC"/>
              </a:solidFill>
              <a:effectLst/>
              <a:latin typeface="Menlo" panose="020B0609030804020204" pitchFamily="49" charset="0"/>
            </a:endParaRPr>
          </a:p>
          <a:p>
            <a:pPr>
              <a:lnSpc>
                <a:spcPts val="1350"/>
              </a:lnSpc>
              <a:buNone/>
            </a:pPr>
            <a:r>
              <a:rPr lang="es-ES" sz="1200" b="0" dirty="0">
                <a:solidFill>
                  <a:srgbClr val="9CDCFE"/>
                </a:solidFill>
                <a:effectLst/>
                <a:latin typeface="Menlo" panose="020B0609030804020204" pitchFamily="49" charset="0"/>
              </a:rPr>
              <a:t>	</a:t>
            </a:r>
            <a:r>
              <a:rPr lang="es-ES" sz="1200" b="0" dirty="0" err="1">
                <a:solidFill>
                  <a:srgbClr val="9CDCFE"/>
                </a:solidFill>
                <a:effectLst/>
                <a:latin typeface="Menlo" panose="020B0609030804020204" pitchFamily="49" charset="0"/>
              </a:rPr>
              <a:t>m</a:t>
            </a:r>
            <a:r>
              <a:rPr lang="es-ES" sz="1200" b="0" dirty="0" err="1">
                <a:solidFill>
                  <a:srgbClr val="CCCCCC"/>
                </a:solidFill>
                <a:effectLst/>
                <a:latin typeface="Menlo" panose="020B0609030804020204" pitchFamily="49" charset="0"/>
              </a:rPr>
              <a:t>.</a:t>
            </a:r>
            <a:r>
              <a:rPr lang="es-ES" sz="1200" b="0" dirty="0" err="1">
                <a:solidFill>
                  <a:srgbClr val="DCDCAA"/>
                </a:solidFill>
                <a:effectLst/>
                <a:latin typeface="Menlo" panose="020B0609030804020204" pitchFamily="49" charset="0"/>
              </a:rPr>
              <a:t>propagation</a:t>
            </a:r>
            <a:r>
              <a:rPr lang="es-ES" sz="1200" b="0" dirty="0">
                <a:solidFill>
                  <a:srgbClr val="CCCCCC"/>
                </a:solidFill>
                <a:effectLst/>
                <a:latin typeface="Menlo" panose="020B0609030804020204" pitchFamily="49" charset="0"/>
              </a:rPr>
              <a:t>()</a:t>
            </a:r>
          </a:p>
        </p:txBody>
      </p:sp>
      <p:pic>
        <p:nvPicPr>
          <p:cNvPr id="8" name="Imagen 7">
            <a:extLst>
              <a:ext uri="{FF2B5EF4-FFF2-40B4-BE49-F238E27FC236}">
                <a16:creationId xmlns:a16="http://schemas.microsoft.com/office/drawing/2014/main" id="{0A90086F-BBF9-3245-2E7A-C687D70E9359}"/>
              </a:ext>
            </a:extLst>
          </p:cNvPr>
          <p:cNvPicPr>
            <a:picLocks noChangeAspect="1"/>
          </p:cNvPicPr>
          <p:nvPr/>
        </p:nvPicPr>
        <p:blipFill>
          <a:blip r:embed="rId2"/>
          <a:stretch>
            <a:fillRect/>
          </a:stretch>
        </p:blipFill>
        <p:spPr>
          <a:xfrm>
            <a:off x="4648200" y="1286870"/>
            <a:ext cx="2743200" cy="946260"/>
          </a:xfrm>
          <a:prstGeom prst="rect">
            <a:avLst/>
          </a:prstGeom>
        </p:spPr>
      </p:pic>
      <p:pic>
        <p:nvPicPr>
          <p:cNvPr id="9" name="Imagen 8">
            <a:extLst>
              <a:ext uri="{FF2B5EF4-FFF2-40B4-BE49-F238E27FC236}">
                <a16:creationId xmlns:a16="http://schemas.microsoft.com/office/drawing/2014/main" id="{237F9273-48AB-7BA7-5EEA-0AB147A4007D}"/>
              </a:ext>
            </a:extLst>
          </p:cNvPr>
          <p:cNvPicPr>
            <a:picLocks noChangeAspect="1"/>
          </p:cNvPicPr>
          <p:nvPr/>
        </p:nvPicPr>
        <p:blipFill>
          <a:blip r:embed="rId3"/>
          <a:stretch>
            <a:fillRect/>
          </a:stretch>
        </p:blipFill>
        <p:spPr>
          <a:xfrm>
            <a:off x="514020" y="2258055"/>
            <a:ext cx="2838780" cy="946260"/>
          </a:xfrm>
          <a:prstGeom prst="rect">
            <a:avLst/>
          </a:prstGeom>
        </p:spPr>
      </p:pic>
      <p:pic>
        <p:nvPicPr>
          <p:cNvPr id="10" name="Imagen 9">
            <a:extLst>
              <a:ext uri="{FF2B5EF4-FFF2-40B4-BE49-F238E27FC236}">
                <a16:creationId xmlns:a16="http://schemas.microsoft.com/office/drawing/2014/main" id="{104C1B47-F8A1-6839-109B-10FCEC2F4C96}"/>
              </a:ext>
            </a:extLst>
          </p:cNvPr>
          <p:cNvPicPr>
            <a:picLocks noChangeAspect="1"/>
          </p:cNvPicPr>
          <p:nvPr/>
        </p:nvPicPr>
        <p:blipFill>
          <a:blip r:embed="rId4"/>
          <a:stretch>
            <a:fillRect/>
          </a:stretch>
        </p:blipFill>
        <p:spPr>
          <a:xfrm>
            <a:off x="7391400" y="1262549"/>
            <a:ext cx="3299717" cy="1041400"/>
          </a:xfrm>
          <a:prstGeom prst="rect">
            <a:avLst/>
          </a:prstGeom>
        </p:spPr>
      </p:pic>
      <p:pic>
        <p:nvPicPr>
          <p:cNvPr id="11" name="Imagen 10">
            <a:extLst>
              <a:ext uri="{FF2B5EF4-FFF2-40B4-BE49-F238E27FC236}">
                <a16:creationId xmlns:a16="http://schemas.microsoft.com/office/drawing/2014/main" id="{4986A8A7-5B67-DD97-6E63-DB61D106A78A}"/>
              </a:ext>
            </a:extLst>
          </p:cNvPr>
          <p:cNvPicPr>
            <a:picLocks noChangeAspect="1"/>
          </p:cNvPicPr>
          <p:nvPr/>
        </p:nvPicPr>
        <p:blipFill>
          <a:blip r:embed="rId5"/>
          <a:stretch>
            <a:fillRect/>
          </a:stretch>
        </p:blipFill>
        <p:spPr>
          <a:xfrm>
            <a:off x="3601021" y="2210485"/>
            <a:ext cx="3454998" cy="1041400"/>
          </a:xfrm>
          <a:prstGeom prst="rect">
            <a:avLst/>
          </a:prstGeom>
        </p:spPr>
      </p:pic>
      <p:pic>
        <p:nvPicPr>
          <p:cNvPr id="12" name="Imagen 11">
            <a:extLst>
              <a:ext uri="{FF2B5EF4-FFF2-40B4-BE49-F238E27FC236}">
                <a16:creationId xmlns:a16="http://schemas.microsoft.com/office/drawing/2014/main" id="{90A10DAB-7D69-886D-01A3-F303A617142A}"/>
              </a:ext>
            </a:extLst>
          </p:cNvPr>
          <p:cNvPicPr>
            <a:picLocks noChangeAspect="1"/>
          </p:cNvPicPr>
          <p:nvPr/>
        </p:nvPicPr>
        <p:blipFill>
          <a:blip r:embed="rId6"/>
          <a:stretch>
            <a:fillRect/>
          </a:stretch>
        </p:blipFill>
        <p:spPr>
          <a:xfrm>
            <a:off x="7237858" y="2203127"/>
            <a:ext cx="3606800" cy="1041400"/>
          </a:xfrm>
          <a:prstGeom prst="rect">
            <a:avLst/>
          </a:prstGeom>
        </p:spPr>
      </p:pic>
      <p:sp>
        <p:nvSpPr>
          <p:cNvPr id="14" name="Flecha curvada hacia la izquierda 13">
            <a:extLst>
              <a:ext uri="{FF2B5EF4-FFF2-40B4-BE49-F238E27FC236}">
                <a16:creationId xmlns:a16="http://schemas.microsoft.com/office/drawing/2014/main" id="{72978382-1943-0D60-3D6A-5410B4D4A367}"/>
              </a:ext>
            </a:extLst>
          </p:cNvPr>
          <p:cNvSpPr/>
          <p:nvPr/>
        </p:nvSpPr>
        <p:spPr>
          <a:xfrm>
            <a:off x="6907991" y="2203127"/>
            <a:ext cx="517220" cy="60652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15" name="Imagen 14">
            <a:extLst>
              <a:ext uri="{FF2B5EF4-FFF2-40B4-BE49-F238E27FC236}">
                <a16:creationId xmlns:a16="http://schemas.microsoft.com/office/drawing/2014/main" id="{EC24A2C0-AA45-22E4-6E86-6558243D71CC}"/>
              </a:ext>
            </a:extLst>
          </p:cNvPr>
          <p:cNvPicPr>
            <a:picLocks noChangeAspect="1"/>
          </p:cNvPicPr>
          <p:nvPr/>
        </p:nvPicPr>
        <p:blipFill>
          <a:blip r:embed="rId7"/>
          <a:stretch>
            <a:fillRect/>
          </a:stretch>
        </p:blipFill>
        <p:spPr>
          <a:xfrm>
            <a:off x="381000" y="4713694"/>
            <a:ext cx="4658013" cy="1404011"/>
          </a:xfrm>
          <a:prstGeom prst="rect">
            <a:avLst/>
          </a:prstGeom>
        </p:spPr>
      </p:pic>
      <p:sp>
        <p:nvSpPr>
          <p:cNvPr id="17" name="CuadroTexto 16">
            <a:extLst>
              <a:ext uri="{FF2B5EF4-FFF2-40B4-BE49-F238E27FC236}">
                <a16:creationId xmlns:a16="http://schemas.microsoft.com/office/drawing/2014/main" id="{7966C304-1F8D-3619-3035-20BBDC6A5066}"/>
              </a:ext>
            </a:extLst>
          </p:cNvPr>
          <p:cNvSpPr txBox="1"/>
          <p:nvPr/>
        </p:nvSpPr>
        <p:spPr>
          <a:xfrm>
            <a:off x="5791200" y="3543667"/>
            <a:ext cx="6130088" cy="2826415"/>
          </a:xfrm>
          <a:prstGeom prst="rect">
            <a:avLst/>
          </a:prstGeom>
          <a:noFill/>
        </p:spPr>
        <p:txBody>
          <a:bodyPr wrap="square">
            <a:spAutoFit/>
          </a:bodyPr>
          <a:lstStyle/>
          <a:p>
            <a:pPr>
              <a:lnSpc>
                <a:spcPts val="1350"/>
              </a:lnSpc>
              <a:buNone/>
            </a:pPr>
            <a:r>
              <a:rPr lang="es-ES" sz="1200" b="1" dirty="0">
                <a:effectLst/>
                <a:latin typeface="Menlo" panose="020B0609030804020204" pitchFamily="49" charset="0"/>
              </a:rPr>
              <a:t>------- </a:t>
            </a:r>
            <a:r>
              <a:rPr lang="es-ES" sz="1200" b="1" dirty="0" err="1">
                <a:effectLst/>
                <a:latin typeface="Menlo" panose="020B0609030804020204" pitchFamily="49" charset="0"/>
              </a:rPr>
              <a:t>Parameters</a:t>
            </a:r>
            <a:r>
              <a:rPr lang="es-ES" sz="1200" b="1" dirty="0">
                <a:effectLst/>
                <a:latin typeface="Menlo" panose="020B0609030804020204" pitchFamily="49" charset="0"/>
              </a:rPr>
              <a:t> ------- </a:t>
            </a:r>
          </a:p>
          <a:p>
            <a:pPr>
              <a:lnSpc>
                <a:spcPts val="1350"/>
              </a:lnSpc>
              <a:buNone/>
            </a:pPr>
            <a:r>
              <a:rPr lang="es-ES" sz="1200" dirty="0">
                <a:effectLst/>
                <a:latin typeface="Menlo" panose="020B0609030804020204" pitchFamily="49" charset="0"/>
              </a:rPr>
              <a:t>MMI </a:t>
            </a:r>
            <a:r>
              <a:rPr lang="es-ES" sz="1200" dirty="0" err="1">
                <a:effectLst/>
                <a:latin typeface="Menlo" panose="020B0609030804020204" pitchFamily="49" charset="0"/>
              </a:rPr>
              <a:t>length</a:t>
            </a:r>
            <a:r>
              <a:rPr lang="es-ES" sz="1200" dirty="0">
                <a:effectLst/>
                <a:latin typeface="Menlo" panose="020B0609030804020204" pitchFamily="49" charset="0"/>
              </a:rPr>
              <a:t> 84.5386 </a:t>
            </a:r>
          </a:p>
          <a:p>
            <a:pPr>
              <a:lnSpc>
                <a:spcPts val="1350"/>
              </a:lnSpc>
              <a:buNone/>
            </a:pPr>
            <a:r>
              <a:rPr lang="es-ES" sz="1200" dirty="0">
                <a:effectLst/>
                <a:latin typeface="Menlo" panose="020B0609030804020204" pitchFamily="49" charset="0"/>
              </a:rPr>
              <a:t>MMI </a:t>
            </a:r>
            <a:r>
              <a:rPr lang="es-ES" sz="1200" dirty="0" err="1">
                <a:effectLst/>
                <a:latin typeface="Menlo" panose="020B0609030804020204" pitchFamily="49" charset="0"/>
              </a:rPr>
              <a:t>length</a:t>
            </a:r>
            <a:r>
              <a:rPr lang="es-ES" sz="1200" dirty="0">
                <a:effectLst/>
                <a:latin typeface="Menlo" panose="020B0609030804020204" pitchFamily="49" charset="0"/>
              </a:rPr>
              <a:t> </a:t>
            </a:r>
            <a:r>
              <a:rPr lang="es-ES" sz="1200" dirty="0" err="1">
                <a:effectLst/>
                <a:latin typeface="Menlo" panose="020B0609030804020204" pitchFamily="49" charset="0"/>
              </a:rPr>
              <a:t>increment</a:t>
            </a:r>
            <a:r>
              <a:rPr lang="es-ES" sz="1200" dirty="0">
                <a:effectLst/>
                <a:latin typeface="Menlo" panose="020B0609030804020204" pitchFamily="49" charset="0"/>
              </a:rPr>
              <a:t> 0.0000 </a:t>
            </a:r>
          </a:p>
          <a:p>
            <a:pPr>
              <a:lnSpc>
                <a:spcPts val="1350"/>
              </a:lnSpc>
              <a:buNone/>
            </a:pPr>
            <a:r>
              <a:rPr lang="es-ES" sz="1200" dirty="0">
                <a:effectLst/>
                <a:latin typeface="Menlo" panose="020B0609030804020204" pitchFamily="49" charset="0"/>
              </a:rPr>
              <a:t>IO </a:t>
            </a:r>
            <a:r>
              <a:rPr lang="es-ES" sz="1200" dirty="0" err="1">
                <a:effectLst/>
                <a:latin typeface="Menlo" panose="020B0609030804020204" pitchFamily="49" charset="0"/>
              </a:rPr>
              <a:t>wg</a:t>
            </a:r>
            <a:r>
              <a:rPr lang="es-ES" sz="1200" dirty="0">
                <a:effectLst/>
                <a:latin typeface="Menlo" panose="020B0609030804020204" pitchFamily="49" charset="0"/>
              </a:rPr>
              <a:t> </a:t>
            </a:r>
            <a:r>
              <a:rPr lang="es-ES" sz="1200" dirty="0" err="1">
                <a:effectLst/>
                <a:latin typeface="Menlo" panose="020B0609030804020204" pitchFamily="49" charset="0"/>
              </a:rPr>
              <a:t>width</a:t>
            </a:r>
            <a:r>
              <a:rPr lang="es-ES" sz="1200" dirty="0">
                <a:effectLst/>
                <a:latin typeface="Menlo" panose="020B0609030804020204" pitchFamily="49" charset="0"/>
              </a:rPr>
              <a:t> 1.0000 </a:t>
            </a:r>
          </a:p>
          <a:p>
            <a:pPr>
              <a:lnSpc>
                <a:spcPts val="1350"/>
              </a:lnSpc>
              <a:buNone/>
            </a:pPr>
            <a:r>
              <a:rPr lang="es-ES" sz="1200" dirty="0">
                <a:effectLst/>
                <a:latin typeface="Menlo" panose="020B0609030804020204" pitchFamily="49" charset="0"/>
              </a:rPr>
              <a:t>IO </a:t>
            </a:r>
            <a:r>
              <a:rPr lang="es-ES" sz="1200" dirty="0" err="1">
                <a:effectLst/>
                <a:latin typeface="Menlo" panose="020B0609030804020204" pitchFamily="49" charset="0"/>
              </a:rPr>
              <a:t>wg</a:t>
            </a:r>
            <a:r>
              <a:rPr lang="es-ES" sz="1200" dirty="0">
                <a:effectLst/>
                <a:latin typeface="Menlo" panose="020B0609030804020204" pitchFamily="49" charset="0"/>
              </a:rPr>
              <a:t> </a:t>
            </a:r>
            <a:r>
              <a:rPr lang="es-ES" sz="1200" dirty="0" err="1">
                <a:effectLst/>
                <a:latin typeface="Menlo" panose="020B0609030804020204" pitchFamily="49" charset="0"/>
              </a:rPr>
              <a:t>width</a:t>
            </a:r>
            <a:r>
              <a:rPr lang="es-ES" sz="1200" dirty="0">
                <a:effectLst/>
                <a:latin typeface="Menlo" panose="020B0609030804020204" pitchFamily="49" charset="0"/>
              </a:rPr>
              <a:t> </a:t>
            </a:r>
            <a:r>
              <a:rPr lang="es-ES" sz="1200" dirty="0" err="1">
                <a:effectLst/>
                <a:latin typeface="Menlo" panose="020B0609030804020204" pitchFamily="49" charset="0"/>
              </a:rPr>
              <a:t>increment</a:t>
            </a:r>
            <a:r>
              <a:rPr lang="es-ES" sz="1200" dirty="0">
                <a:effectLst/>
                <a:latin typeface="Menlo" panose="020B0609030804020204" pitchFamily="49" charset="0"/>
              </a:rPr>
              <a:t> 1.2000 </a:t>
            </a:r>
          </a:p>
          <a:p>
            <a:pPr>
              <a:lnSpc>
                <a:spcPts val="1350"/>
              </a:lnSpc>
              <a:buNone/>
            </a:pPr>
            <a:r>
              <a:rPr lang="es-ES" sz="1200" dirty="0">
                <a:effectLst/>
                <a:latin typeface="Menlo" panose="020B0609030804020204" pitchFamily="49" charset="0"/>
              </a:rPr>
              <a:t>------------------------ </a:t>
            </a:r>
          </a:p>
          <a:p>
            <a:pPr>
              <a:lnSpc>
                <a:spcPts val="1350"/>
              </a:lnSpc>
              <a:buNone/>
            </a:pPr>
            <a:r>
              <a:rPr lang="es-ES" sz="1200" dirty="0">
                <a:effectLst/>
                <a:latin typeface="Menlo" panose="020B0609030804020204" pitchFamily="49" charset="0"/>
              </a:rPr>
              <a:t>Total </a:t>
            </a:r>
            <a:r>
              <a:rPr lang="es-ES" sz="1200" dirty="0" err="1">
                <a:effectLst/>
                <a:latin typeface="Menlo" panose="020B0609030804020204" pitchFamily="49" charset="0"/>
              </a:rPr>
              <a:t>power</a:t>
            </a:r>
            <a:r>
              <a:rPr lang="es-ES" sz="1200" dirty="0">
                <a:effectLst/>
                <a:latin typeface="Menlo" panose="020B0609030804020204" pitchFamily="49" charset="0"/>
              </a:rPr>
              <a:t> IN </a:t>
            </a:r>
            <a:r>
              <a:rPr lang="es-ES" sz="1200" dirty="0" err="1">
                <a:effectLst/>
                <a:latin typeface="Menlo" panose="020B0609030804020204" pitchFamily="49" charset="0"/>
              </a:rPr>
              <a:t>coupled</a:t>
            </a:r>
            <a:r>
              <a:rPr lang="es-ES" sz="1200" dirty="0">
                <a:effectLst/>
                <a:latin typeface="Menlo" panose="020B0609030804020204" pitchFamily="49" charset="0"/>
              </a:rPr>
              <a:t> 0.9996 </a:t>
            </a:r>
          </a:p>
          <a:p>
            <a:pPr>
              <a:lnSpc>
                <a:spcPts val="1350"/>
              </a:lnSpc>
              <a:buNone/>
            </a:pPr>
            <a:r>
              <a:rPr lang="es-ES" sz="1200" dirty="0">
                <a:effectLst/>
                <a:latin typeface="Menlo" panose="020B0609030804020204" pitchFamily="49" charset="0"/>
              </a:rPr>
              <a:t>Total OUT </a:t>
            </a:r>
            <a:r>
              <a:rPr lang="es-ES" sz="1200" dirty="0" err="1">
                <a:effectLst/>
                <a:latin typeface="Menlo" panose="020B0609030804020204" pitchFamily="49" charset="0"/>
              </a:rPr>
              <a:t>power</a:t>
            </a:r>
            <a:r>
              <a:rPr lang="es-ES" sz="1200" dirty="0">
                <a:effectLst/>
                <a:latin typeface="Menlo" panose="020B0609030804020204" pitchFamily="49" charset="0"/>
              </a:rPr>
              <a:t>: 0.9896 </a:t>
            </a:r>
          </a:p>
          <a:p>
            <a:pPr>
              <a:lnSpc>
                <a:spcPts val="1350"/>
              </a:lnSpc>
              <a:buNone/>
            </a:pPr>
            <a:r>
              <a:rPr lang="es-ES" sz="1200" dirty="0" err="1">
                <a:effectLst/>
                <a:latin typeface="Menlo" panose="020B0609030804020204" pitchFamily="49" charset="0"/>
              </a:rPr>
              <a:t>Excess</a:t>
            </a:r>
            <a:r>
              <a:rPr lang="es-ES" sz="1200" dirty="0">
                <a:effectLst/>
                <a:latin typeface="Menlo" panose="020B0609030804020204" pitchFamily="49" charset="0"/>
              </a:rPr>
              <a:t> </a:t>
            </a:r>
            <a:r>
              <a:rPr lang="es-ES" sz="1200" dirty="0" err="1">
                <a:effectLst/>
                <a:latin typeface="Menlo" panose="020B0609030804020204" pitchFamily="49" charset="0"/>
              </a:rPr>
              <a:t>loss</a:t>
            </a:r>
            <a:r>
              <a:rPr lang="es-ES" sz="1200" dirty="0">
                <a:effectLst/>
                <a:latin typeface="Menlo" panose="020B0609030804020204" pitchFamily="49" charset="0"/>
              </a:rPr>
              <a:t> [dB] = 0.0454 </a:t>
            </a:r>
          </a:p>
          <a:p>
            <a:pPr>
              <a:lnSpc>
                <a:spcPts val="1350"/>
              </a:lnSpc>
              <a:buNone/>
            </a:pPr>
            <a:r>
              <a:rPr lang="es-ES" sz="1200" dirty="0">
                <a:effectLst/>
                <a:latin typeface="Menlo" panose="020B0609030804020204" pitchFamily="49" charset="0"/>
              </a:rPr>
              <a:t>------------------------ </a:t>
            </a:r>
          </a:p>
          <a:p>
            <a:pPr>
              <a:lnSpc>
                <a:spcPts val="1350"/>
              </a:lnSpc>
              <a:buNone/>
            </a:pPr>
            <a:r>
              <a:rPr lang="es-ES" sz="1200" dirty="0" err="1">
                <a:effectLst/>
                <a:latin typeface="Menlo" panose="020B0609030804020204" pitchFamily="49" charset="0"/>
              </a:rPr>
              <a:t>Power</a:t>
            </a:r>
            <a:r>
              <a:rPr lang="es-ES" sz="1200" dirty="0">
                <a:effectLst/>
                <a:latin typeface="Menlo" panose="020B0609030804020204" pitchFamily="49" charset="0"/>
              </a:rPr>
              <a:t> </a:t>
            </a:r>
            <a:r>
              <a:rPr lang="es-ES" sz="1200" dirty="0" err="1">
                <a:effectLst/>
                <a:latin typeface="Menlo" panose="020B0609030804020204" pitchFamily="49" charset="0"/>
              </a:rPr>
              <a:t>over</a:t>
            </a:r>
            <a:r>
              <a:rPr lang="es-ES" sz="1200" dirty="0">
                <a:effectLst/>
                <a:latin typeface="Menlo" panose="020B0609030804020204" pitchFamily="49" charset="0"/>
              </a:rPr>
              <a:t> </a:t>
            </a:r>
            <a:r>
              <a:rPr lang="es-ES" sz="1200" dirty="0" err="1">
                <a:effectLst/>
                <a:latin typeface="Menlo" panose="020B0609030804020204" pitchFamily="49" charset="0"/>
              </a:rPr>
              <a:t>OUTs</a:t>
            </a:r>
            <a:r>
              <a:rPr lang="es-ES" sz="1200" dirty="0">
                <a:effectLst/>
                <a:latin typeface="Menlo" panose="020B0609030804020204" pitchFamily="49" charset="0"/>
              </a:rPr>
              <a:t>: ['0.2638', '0.2310', '0.2310', '0.2638’] </a:t>
            </a:r>
          </a:p>
          <a:p>
            <a:pPr>
              <a:lnSpc>
                <a:spcPts val="1350"/>
              </a:lnSpc>
              <a:buNone/>
            </a:pPr>
            <a:r>
              <a:rPr lang="es-ES" sz="1200" dirty="0">
                <a:effectLst/>
                <a:latin typeface="Menlo" panose="020B0609030804020204" pitchFamily="49" charset="0"/>
              </a:rPr>
              <a:t>Ratio </a:t>
            </a:r>
            <a:r>
              <a:rPr lang="es-ES" sz="1200" dirty="0" err="1">
                <a:effectLst/>
                <a:latin typeface="Menlo" panose="020B0609030804020204" pitchFamily="49" charset="0"/>
              </a:rPr>
              <a:t>over</a:t>
            </a:r>
            <a:r>
              <a:rPr lang="es-ES" sz="1200" dirty="0">
                <a:effectLst/>
                <a:latin typeface="Menlo" panose="020B0609030804020204" pitchFamily="49" charset="0"/>
              </a:rPr>
              <a:t> </a:t>
            </a:r>
            <a:r>
              <a:rPr lang="es-ES" sz="1200" dirty="0" err="1">
                <a:effectLst/>
                <a:latin typeface="Menlo" panose="020B0609030804020204" pitchFamily="49" charset="0"/>
              </a:rPr>
              <a:t>OUTs</a:t>
            </a:r>
            <a:r>
              <a:rPr lang="es-ES" sz="1200" dirty="0">
                <a:effectLst/>
                <a:latin typeface="Menlo" panose="020B0609030804020204" pitchFamily="49" charset="0"/>
              </a:rPr>
              <a:t> ['0.2665', '0.2334', '0.2335', '0.2665'] </a:t>
            </a:r>
          </a:p>
          <a:p>
            <a:pPr algn="l">
              <a:spcBef>
                <a:spcPts val="150"/>
              </a:spcBef>
              <a:spcAft>
                <a:spcPts val="150"/>
              </a:spcAft>
              <a:buNone/>
            </a:pPr>
            <a:br>
              <a:rPr lang="es-ES" b="0" i="0" dirty="0">
                <a:solidFill>
                  <a:srgbClr val="000000"/>
                </a:solidFill>
                <a:effectLst/>
                <a:latin typeface="-apple-system"/>
              </a:rPr>
            </a:br>
            <a:endParaRPr lang="es-ES" b="0" i="0" dirty="0">
              <a:solidFill>
                <a:srgbClr val="000000"/>
              </a:solidFill>
              <a:effectLst/>
              <a:latin typeface="-apple-system"/>
            </a:endParaRPr>
          </a:p>
        </p:txBody>
      </p:sp>
      <p:sp>
        <p:nvSpPr>
          <p:cNvPr id="18" name="CuadroTexto 17">
            <a:extLst>
              <a:ext uri="{FF2B5EF4-FFF2-40B4-BE49-F238E27FC236}">
                <a16:creationId xmlns:a16="http://schemas.microsoft.com/office/drawing/2014/main" id="{E0FB9C6D-B893-47CA-5BE3-E191D499F60C}"/>
              </a:ext>
            </a:extLst>
          </p:cNvPr>
          <p:cNvSpPr txBox="1"/>
          <p:nvPr/>
        </p:nvSpPr>
        <p:spPr>
          <a:xfrm>
            <a:off x="557893" y="3543667"/>
            <a:ext cx="4438980" cy="1200329"/>
          </a:xfrm>
          <a:prstGeom prst="rect">
            <a:avLst/>
          </a:prstGeom>
          <a:noFill/>
        </p:spPr>
        <p:txBody>
          <a:bodyPr wrap="square" rtlCol="0">
            <a:spAutoFit/>
          </a:bodyPr>
          <a:lstStyle/>
          <a:p>
            <a:pPr algn="just"/>
            <a:r>
              <a:rPr lang="es-ES" sz="1200" dirty="0"/>
              <a:t>Ahora vamos ajustando las salidas del MMI hasta que veamos que la luz se acopla totalmente a las 4 salidas. Con una anchura de 8 </a:t>
            </a:r>
            <a:r>
              <a:rPr lang="es-ES" sz="1200" dirty="0" err="1"/>
              <a:t>um</a:t>
            </a:r>
            <a:r>
              <a:rPr lang="es-ES" sz="1200" dirty="0"/>
              <a:t> y las posiciones de las guías de salida en: </a:t>
            </a:r>
            <a:r>
              <a:rPr lang="es-ES" sz="1200" dirty="0" err="1"/>
              <a:t>np.array</a:t>
            </a:r>
            <a:r>
              <a:rPr lang="es-ES" sz="1200" b="1" dirty="0"/>
              <a:t>([-3.9, -1, 1, 3.9]) </a:t>
            </a:r>
            <a:r>
              <a:rPr lang="es-ES" sz="1200" dirty="0"/>
              <a:t>obtenemos unas pérdidas de 0.045 dB, con una potencia total de 0.9896 en la salida.</a:t>
            </a:r>
          </a:p>
          <a:p>
            <a:endParaRPr lang="es-ES" sz="1200" dirty="0"/>
          </a:p>
        </p:txBody>
      </p:sp>
    </p:spTree>
    <p:extLst>
      <p:ext uri="{BB962C8B-B14F-4D97-AF65-F5344CB8AC3E}">
        <p14:creationId xmlns:p14="http://schemas.microsoft.com/office/powerpoint/2010/main" val="902330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deep,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constante</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aumentar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para ambas </a:t>
            </a:r>
            <a:r>
              <a:rPr lang="en-US" sz="1200" dirty="0" err="1">
                <a:latin typeface="Arial" panose="020B0604020202020204" pitchFamily="34" charset="0"/>
                <a:cs typeface="Arial" panose="020B0604020202020204" pitchFamily="34" charset="0"/>
              </a:rPr>
              <a:t>polarizaciones</a:t>
            </a:r>
            <a:r>
              <a:rPr lang="en-US" sz="1200" dirty="0">
                <a:latin typeface="Arial" panose="020B0604020202020204" pitchFamily="34" charset="0"/>
                <a:cs typeface="Arial" panose="020B0604020202020204" pitchFamily="34" charset="0"/>
              </a:rPr>
              <a:t>. Esto indica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longitudd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campo </a:t>
            </a:r>
            <a:r>
              <a:rPr lang="en-US" sz="1200" dirty="0" err="1">
                <a:latin typeface="Arial" panose="020B0604020202020204" pitchFamily="34" charset="0"/>
                <a:cs typeface="Arial" panose="020B0604020202020204" pitchFamily="34" charset="0"/>
              </a:rPr>
              <a:t>evanescente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extiende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fuera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incrementando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solapamiento</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de ambas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aprecia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TM,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implica</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ligeramente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debil</a:t>
            </a:r>
            <a:r>
              <a:rPr lang="en-US" sz="1200" dirty="0">
                <a:latin typeface="Arial" panose="020B0604020202020204" pitchFamily="34" charset="0"/>
                <a:cs typeface="Arial" panose="020B0604020202020204" pitchFamily="34" charset="0"/>
              </a:rPr>
              <a:t> para TE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geometría</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TM,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indica un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débil</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21424" y="4457876"/>
            <a:ext cx="2269787" cy="276999"/>
          </a:xfrm>
          <a:prstGeom prst="rect">
            <a:avLst/>
          </a:prstGeom>
          <a:noFill/>
        </p:spPr>
        <p:txBody>
          <a:bodyPr wrap="square">
            <a:spAutoFit/>
          </a:bodyPr>
          <a:lstStyle/>
          <a:p>
            <a:r>
              <a:rPr lang="en-US" sz="1200" dirty="0"/>
              <a:t>slab = 150nm</a:t>
            </a:r>
            <a:endParaRPr lang="es-ES" sz="1200"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49B9650E-0FB9-851E-DFB8-158474CD1B71}"/>
              </a:ext>
            </a:extLst>
          </p:cNvPr>
          <p:cNvPicPr>
            <a:picLocks noChangeAspect="1"/>
          </p:cNvPicPr>
          <p:nvPr/>
        </p:nvPicPr>
        <p:blipFill>
          <a:blip r:embed="rId7"/>
          <a:stretch>
            <a:fillRect/>
          </a:stretch>
        </p:blipFill>
        <p:spPr>
          <a:xfrm>
            <a:off x="1352590" y="1559458"/>
            <a:ext cx="4000420" cy="3085291"/>
          </a:xfrm>
          <a:prstGeom prst="rect">
            <a:avLst/>
          </a:prstGeom>
        </p:spPr>
      </p:pic>
      <p:pic>
        <p:nvPicPr>
          <p:cNvPr id="10" name="Imagen 9">
            <a:extLst>
              <a:ext uri="{FF2B5EF4-FFF2-40B4-BE49-F238E27FC236}">
                <a16:creationId xmlns:a16="http://schemas.microsoft.com/office/drawing/2014/main" id="{48B740C0-07AD-A52A-1ABF-542BDAED6F26}"/>
              </a:ext>
            </a:extLst>
          </p:cNvPr>
          <p:cNvPicPr>
            <a:picLocks noChangeAspect="1"/>
          </p:cNvPicPr>
          <p:nvPr/>
        </p:nvPicPr>
        <p:blipFill>
          <a:blip r:embed="rId8"/>
          <a:stretch>
            <a:fillRect/>
          </a:stretch>
        </p:blipFill>
        <p:spPr>
          <a:xfrm>
            <a:off x="7303823" y="1546106"/>
            <a:ext cx="4098391" cy="3120065"/>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1314</TotalTime>
  <Words>3212</Words>
  <Application>Microsoft Macintosh PowerPoint</Application>
  <PresentationFormat>Panorámica</PresentationFormat>
  <Paragraphs>445</Paragraphs>
  <Slides>24</Slides>
  <Notes>11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24</vt:i4>
      </vt:variant>
    </vt:vector>
  </HeadingPairs>
  <TitlesOfParts>
    <vt:vector size="35" baseType="lpstr">
      <vt:lpstr>-apple-system</vt:lpstr>
      <vt:lpstr>-webkit-standard</vt:lpstr>
      <vt:lpstr>Aptos</vt:lpstr>
      <vt:lpstr>Arial</vt:lpstr>
      <vt:lpstr>Calibri</vt:lpstr>
      <vt:lpstr>Cambria Math</vt:lpstr>
      <vt:lpstr>Lucida Sans</vt:lpstr>
      <vt:lpstr>Menlo</vt:lpstr>
      <vt:lpstr>Times New Roman</vt:lpstr>
      <vt:lpstr>Wingdings</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Width 0.6 - 1.6 µm (step 0.1 µm) – Wavelength 1.55 µm </vt:lpstr>
      <vt:lpstr>Comments on Learning Outcome 2</vt:lpstr>
      <vt:lpstr>Comments on Learning Outcome 2</vt:lpstr>
      <vt:lpstr>Comments on Learning Outcome 2</vt:lpstr>
      <vt:lpstr>Comments on Learning Outcome 2</vt:lpstr>
      <vt:lpstr>Comments on Learning Outcome 2</vt:lpstr>
      <vt:lpstr>Comments on Learning Outcome 2</vt:lpstr>
      <vt:lpstr>Learning outcome #3 – Parallel uncoupled waveguides Wavelength 1.55 µm, width 1.0 µm, gap to be found for uncoupled wvgs</vt:lpstr>
      <vt:lpstr>Presentación de PowerPoint</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Comments on Learning Outcome 4.3 </vt:lpstr>
      <vt:lpstr>Learning outcome #5 – 1x4 Multimode Interference Coupler  Wavelength 1.55 µm, wMMI = ? µm</vt:lpstr>
      <vt:lpstr>Comments on Learning Outcome 5</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 Pla Torro</cp:lastModifiedBy>
  <cp:revision>36</cp:revision>
  <dcterms:created xsi:type="dcterms:W3CDTF">2025-01-27T02:46:57Z</dcterms:created>
  <dcterms:modified xsi:type="dcterms:W3CDTF">2026-03-11T12:36:32Z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